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76" r:id="rId3"/>
    <p:sldId id="277" r:id="rId4"/>
    <p:sldId id="288" r:id="rId5"/>
    <p:sldId id="289" r:id="rId6"/>
    <p:sldId id="27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2" r:id="rId29"/>
    <p:sldId id="313" r:id="rId30"/>
    <p:sldId id="314" r:id="rId31"/>
    <p:sldId id="315" r:id="rId32"/>
    <p:sldId id="285" r:id="rId3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DE503"/>
    <a:srgbClr val="C00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0" autoAdjust="0"/>
    <p:restoredTop sz="94652" autoAdjust="0"/>
  </p:normalViewPr>
  <p:slideViewPr>
    <p:cSldViewPr snapToGrid="0" showGuides="1">
      <p:cViewPr varScale="1">
        <p:scale>
          <a:sx n="102" d="100"/>
          <a:sy n="102" d="100"/>
        </p:scale>
        <p:origin x="240" y="8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42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8099B6-5942-499E-B618-6CF34DAD73A6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36F85669-7D06-415E-91F5-CE72150C6D44}">
      <dgm:prSet phldrT="[Texte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2400" b="1" dirty="0">
              <a:latin typeface="+mj-lt"/>
            </a:rPr>
            <a:t>Finlande, un leader éducatif : </a:t>
          </a:r>
          <a:r>
            <a:rPr lang="fr-FR" sz="2400" dirty="0">
              <a:latin typeface="+mj-lt"/>
            </a:rPr>
            <a:t>Croissance continue des investissements, marché stable et hautement technologique.</a:t>
          </a:r>
        </a:p>
      </dgm:t>
    </dgm:pt>
    <dgm:pt modelId="{440120F5-BC84-446E-8051-EA1BA4E03C26}" type="parTrans" cxnId="{0EAC5AD3-B5F7-4FBF-B59F-7CA104690B10}">
      <dgm:prSet/>
      <dgm:spPr/>
      <dgm:t>
        <a:bodyPr/>
        <a:lstStyle/>
        <a:p>
          <a:endParaRPr lang="fr-FR"/>
        </a:p>
      </dgm:t>
    </dgm:pt>
    <dgm:pt modelId="{196A47B9-D978-4AFA-9905-5F93A0F42849}" type="sibTrans" cxnId="{0EAC5AD3-B5F7-4FBF-B59F-7CA104690B10}">
      <dgm:prSet/>
      <dgm:spPr/>
      <dgm:t>
        <a:bodyPr/>
        <a:lstStyle/>
        <a:p>
          <a:endParaRPr lang="fr-FR"/>
        </a:p>
      </dgm:t>
    </dgm:pt>
    <dgm:pt modelId="{18C9C010-4D84-484C-89A4-8A0BAD4EAEA9}">
      <dgm:prSet phldrT="[Texte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2400" b="1" dirty="0">
              <a:latin typeface="+mj-lt"/>
            </a:rPr>
            <a:t>Brésil, un marché vaste et dynamique : </a:t>
          </a:r>
          <a:r>
            <a:rPr lang="fr-FR" sz="2400" b="0" dirty="0">
              <a:latin typeface="+mj-lt"/>
            </a:rPr>
            <a:t>Investissements en forte hausse, démographie importante et besoin accru en </a:t>
          </a:r>
          <a:r>
            <a:rPr lang="fr-FR" sz="2400" b="0" dirty="0" err="1">
              <a:latin typeface="+mj-lt"/>
            </a:rPr>
            <a:t>EdTech</a:t>
          </a:r>
          <a:r>
            <a:rPr lang="fr-FR" sz="2400" b="0" dirty="0">
              <a:latin typeface="+mj-lt"/>
            </a:rPr>
            <a:t>.</a:t>
          </a:r>
          <a:endParaRPr lang="fr-FR" sz="2400" b="1" dirty="0">
            <a:latin typeface="+mj-lt"/>
          </a:endParaRPr>
        </a:p>
      </dgm:t>
    </dgm:pt>
    <dgm:pt modelId="{782507BD-3A49-4191-AE2A-07AA9C8A2659}" type="parTrans" cxnId="{C6C09D99-753D-499E-AB90-D56834E6BEB9}">
      <dgm:prSet/>
      <dgm:spPr/>
      <dgm:t>
        <a:bodyPr/>
        <a:lstStyle/>
        <a:p>
          <a:endParaRPr lang="fr-FR"/>
        </a:p>
      </dgm:t>
    </dgm:pt>
    <dgm:pt modelId="{7C05E660-D427-437A-ACCF-A502C093B678}" type="sibTrans" cxnId="{C6C09D99-753D-499E-AB90-D56834E6BEB9}">
      <dgm:prSet/>
      <dgm:spPr/>
      <dgm:t>
        <a:bodyPr/>
        <a:lstStyle/>
        <a:p>
          <a:endParaRPr lang="fr-FR"/>
        </a:p>
      </dgm:t>
    </dgm:pt>
    <dgm:pt modelId="{D788F5A0-3393-4B39-8822-7228F95D5CDF}">
      <dgm:prSet phldrT="[Texte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fr-FR" sz="2400" b="1" dirty="0">
              <a:latin typeface="+mj-lt"/>
            </a:rPr>
            <a:t>Turquie, une expansion éducative rapide :</a:t>
          </a:r>
          <a:r>
            <a:rPr lang="fr-FR" sz="2400" b="0" dirty="0">
              <a:latin typeface="+mj-lt"/>
            </a:rPr>
            <a:t> Croissance rapide des investissements, fort potentiel démographique et position stratégique.</a:t>
          </a:r>
          <a:endParaRPr lang="fr-FR" sz="2400" b="1" dirty="0">
            <a:latin typeface="+mj-lt"/>
          </a:endParaRPr>
        </a:p>
      </dgm:t>
    </dgm:pt>
    <dgm:pt modelId="{230177E7-7C6D-40D2-9E45-40444D7FD324}" type="parTrans" cxnId="{6FE01B11-9CCE-464A-9550-FE25A7525EE6}">
      <dgm:prSet/>
      <dgm:spPr/>
      <dgm:t>
        <a:bodyPr/>
        <a:lstStyle/>
        <a:p>
          <a:endParaRPr lang="fr-FR"/>
        </a:p>
      </dgm:t>
    </dgm:pt>
    <dgm:pt modelId="{8AC5ABD1-29A7-43B7-9C72-E16FC101A45F}" type="sibTrans" cxnId="{6FE01B11-9CCE-464A-9550-FE25A7525EE6}">
      <dgm:prSet/>
      <dgm:spPr/>
      <dgm:t>
        <a:bodyPr/>
        <a:lstStyle/>
        <a:p>
          <a:endParaRPr lang="fr-FR"/>
        </a:p>
      </dgm:t>
    </dgm:pt>
    <dgm:pt modelId="{6079145D-1A09-4928-AA64-547251E61B26}" type="pres">
      <dgm:prSet presAssocID="{3C8099B6-5942-499E-B618-6CF34DAD73A6}" presName="linearFlow" presStyleCnt="0">
        <dgm:presLayoutVars>
          <dgm:dir/>
          <dgm:resizeHandles val="exact"/>
        </dgm:presLayoutVars>
      </dgm:prSet>
      <dgm:spPr/>
    </dgm:pt>
    <dgm:pt modelId="{1E19205B-B48D-41A5-A0F7-6AD964E0618A}" type="pres">
      <dgm:prSet presAssocID="{36F85669-7D06-415E-91F5-CE72150C6D44}" presName="composite" presStyleCnt="0"/>
      <dgm:spPr/>
    </dgm:pt>
    <dgm:pt modelId="{785724D0-D6AF-41BB-ADE8-34084B20256A}" type="pres">
      <dgm:prSet presAssocID="{36F85669-7D06-415E-91F5-CE72150C6D44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32000" r="-32000"/>
          </a:stretch>
        </a:blipFill>
      </dgm:spPr>
    </dgm:pt>
    <dgm:pt modelId="{55CFACA5-4FDF-4433-A0B6-DAB8DC77E363}" type="pres">
      <dgm:prSet presAssocID="{36F85669-7D06-415E-91F5-CE72150C6D44}" presName="txShp" presStyleLbl="node1" presStyleIdx="0" presStyleCnt="3">
        <dgm:presLayoutVars>
          <dgm:bulletEnabled val="1"/>
        </dgm:presLayoutVars>
      </dgm:prSet>
      <dgm:spPr/>
    </dgm:pt>
    <dgm:pt modelId="{F75691D5-8DFC-4735-918B-D5C445FD4BA6}" type="pres">
      <dgm:prSet presAssocID="{196A47B9-D978-4AFA-9905-5F93A0F42849}" presName="spacing" presStyleCnt="0"/>
      <dgm:spPr/>
    </dgm:pt>
    <dgm:pt modelId="{D6FBC3F9-85EC-4B0C-AD25-5D5BAF917C4F}" type="pres">
      <dgm:prSet presAssocID="{18C9C010-4D84-484C-89A4-8A0BAD4EAEA9}" presName="composite" presStyleCnt="0"/>
      <dgm:spPr/>
    </dgm:pt>
    <dgm:pt modelId="{F1240D93-267E-41FC-8777-AC25C9063B40}" type="pres">
      <dgm:prSet presAssocID="{18C9C010-4D84-484C-89A4-8A0BAD4EAEA9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1000" r="-21000"/>
          </a:stretch>
        </a:blipFill>
      </dgm:spPr>
    </dgm:pt>
    <dgm:pt modelId="{089F6B7D-0E9F-4335-85DD-8C2389F64A93}" type="pres">
      <dgm:prSet presAssocID="{18C9C010-4D84-484C-89A4-8A0BAD4EAEA9}" presName="txShp" presStyleLbl="node1" presStyleIdx="1" presStyleCnt="3">
        <dgm:presLayoutVars>
          <dgm:bulletEnabled val="1"/>
        </dgm:presLayoutVars>
      </dgm:prSet>
      <dgm:spPr/>
    </dgm:pt>
    <dgm:pt modelId="{8B572CB1-96BA-4652-991C-C056FF533132}" type="pres">
      <dgm:prSet presAssocID="{7C05E660-D427-437A-ACCF-A502C093B678}" presName="spacing" presStyleCnt="0"/>
      <dgm:spPr/>
    </dgm:pt>
    <dgm:pt modelId="{F2AB015B-0A3F-4D93-87FE-47C64FDC4BF7}" type="pres">
      <dgm:prSet presAssocID="{D788F5A0-3393-4B39-8822-7228F95D5CDF}" presName="composite" presStyleCnt="0"/>
      <dgm:spPr/>
    </dgm:pt>
    <dgm:pt modelId="{8A0630A2-F5D4-4F60-885C-596B5FDDCD61}" type="pres">
      <dgm:prSet presAssocID="{D788F5A0-3393-4B39-8822-7228F95D5CDF}" presName="imgShp" presStyleLbl="fgImgPlace1" presStyleIdx="2" presStyleCnt="3"/>
      <dgm:spPr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</dgm:spPr>
    </dgm:pt>
    <dgm:pt modelId="{97376D8E-074C-4ECD-BC42-67721B591933}" type="pres">
      <dgm:prSet presAssocID="{D788F5A0-3393-4B39-8822-7228F95D5CDF}" presName="txShp" presStyleLbl="node1" presStyleIdx="2" presStyleCnt="3">
        <dgm:presLayoutVars>
          <dgm:bulletEnabled val="1"/>
        </dgm:presLayoutVars>
      </dgm:prSet>
      <dgm:spPr/>
    </dgm:pt>
  </dgm:ptLst>
  <dgm:cxnLst>
    <dgm:cxn modelId="{6FE01B11-9CCE-464A-9550-FE25A7525EE6}" srcId="{3C8099B6-5942-499E-B618-6CF34DAD73A6}" destId="{D788F5A0-3393-4B39-8822-7228F95D5CDF}" srcOrd="2" destOrd="0" parTransId="{230177E7-7C6D-40D2-9E45-40444D7FD324}" sibTransId="{8AC5ABD1-29A7-43B7-9C72-E16FC101A45F}"/>
    <dgm:cxn modelId="{3CCAD312-EFC7-4BDE-92F0-6C945F77963F}" type="presOf" srcId="{36F85669-7D06-415E-91F5-CE72150C6D44}" destId="{55CFACA5-4FDF-4433-A0B6-DAB8DC77E363}" srcOrd="0" destOrd="0" presId="urn:microsoft.com/office/officeart/2005/8/layout/vList3"/>
    <dgm:cxn modelId="{B8F36626-4BE2-49EB-A84A-D8376DE78968}" type="presOf" srcId="{18C9C010-4D84-484C-89A4-8A0BAD4EAEA9}" destId="{089F6B7D-0E9F-4335-85DD-8C2389F64A93}" srcOrd="0" destOrd="0" presId="urn:microsoft.com/office/officeart/2005/8/layout/vList3"/>
    <dgm:cxn modelId="{615A312D-0A32-4D67-885D-F87F844EFD25}" type="presOf" srcId="{3C8099B6-5942-499E-B618-6CF34DAD73A6}" destId="{6079145D-1A09-4928-AA64-547251E61B26}" srcOrd="0" destOrd="0" presId="urn:microsoft.com/office/officeart/2005/8/layout/vList3"/>
    <dgm:cxn modelId="{17A62C8C-FDC6-47C7-ADB5-7F6950C821E2}" type="presOf" srcId="{D788F5A0-3393-4B39-8822-7228F95D5CDF}" destId="{97376D8E-074C-4ECD-BC42-67721B591933}" srcOrd="0" destOrd="0" presId="urn:microsoft.com/office/officeart/2005/8/layout/vList3"/>
    <dgm:cxn modelId="{C6C09D99-753D-499E-AB90-D56834E6BEB9}" srcId="{3C8099B6-5942-499E-B618-6CF34DAD73A6}" destId="{18C9C010-4D84-484C-89A4-8A0BAD4EAEA9}" srcOrd="1" destOrd="0" parTransId="{782507BD-3A49-4191-AE2A-07AA9C8A2659}" sibTransId="{7C05E660-D427-437A-ACCF-A502C093B678}"/>
    <dgm:cxn modelId="{0EAC5AD3-B5F7-4FBF-B59F-7CA104690B10}" srcId="{3C8099B6-5942-499E-B618-6CF34DAD73A6}" destId="{36F85669-7D06-415E-91F5-CE72150C6D44}" srcOrd="0" destOrd="0" parTransId="{440120F5-BC84-446E-8051-EA1BA4E03C26}" sibTransId="{196A47B9-D978-4AFA-9905-5F93A0F42849}"/>
    <dgm:cxn modelId="{BD1528D9-E9DD-4FD4-B75F-978935FEF6AA}" type="presParOf" srcId="{6079145D-1A09-4928-AA64-547251E61B26}" destId="{1E19205B-B48D-41A5-A0F7-6AD964E0618A}" srcOrd="0" destOrd="0" presId="urn:microsoft.com/office/officeart/2005/8/layout/vList3"/>
    <dgm:cxn modelId="{13B93402-5C37-4173-A3C9-B3DD7B20136F}" type="presParOf" srcId="{1E19205B-B48D-41A5-A0F7-6AD964E0618A}" destId="{785724D0-D6AF-41BB-ADE8-34084B20256A}" srcOrd="0" destOrd="0" presId="urn:microsoft.com/office/officeart/2005/8/layout/vList3"/>
    <dgm:cxn modelId="{D4D79E06-F30F-47C0-BDEA-53976652A5D0}" type="presParOf" srcId="{1E19205B-B48D-41A5-A0F7-6AD964E0618A}" destId="{55CFACA5-4FDF-4433-A0B6-DAB8DC77E363}" srcOrd="1" destOrd="0" presId="urn:microsoft.com/office/officeart/2005/8/layout/vList3"/>
    <dgm:cxn modelId="{96F41B4C-C29A-4BD9-90C6-A3820857EBEC}" type="presParOf" srcId="{6079145D-1A09-4928-AA64-547251E61B26}" destId="{F75691D5-8DFC-4735-918B-D5C445FD4BA6}" srcOrd="1" destOrd="0" presId="urn:microsoft.com/office/officeart/2005/8/layout/vList3"/>
    <dgm:cxn modelId="{030C7BA2-64E1-4CBF-9D4D-3F3E6EF7E83E}" type="presParOf" srcId="{6079145D-1A09-4928-AA64-547251E61B26}" destId="{D6FBC3F9-85EC-4B0C-AD25-5D5BAF917C4F}" srcOrd="2" destOrd="0" presId="urn:microsoft.com/office/officeart/2005/8/layout/vList3"/>
    <dgm:cxn modelId="{476E0DCE-3B14-47F1-8332-28512D643593}" type="presParOf" srcId="{D6FBC3F9-85EC-4B0C-AD25-5D5BAF917C4F}" destId="{F1240D93-267E-41FC-8777-AC25C9063B40}" srcOrd="0" destOrd="0" presId="urn:microsoft.com/office/officeart/2005/8/layout/vList3"/>
    <dgm:cxn modelId="{37082A11-0397-47BF-95F2-BAEEDB0AF35F}" type="presParOf" srcId="{D6FBC3F9-85EC-4B0C-AD25-5D5BAF917C4F}" destId="{089F6B7D-0E9F-4335-85DD-8C2389F64A93}" srcOrd="1" destOrd="0" presId="urn:microsoft.com/office/officeart/2005/8/layout/vList3"/>
    <dgm:cxn modelId="{4D24C0EC-6AC6-4B95-9716-2E34FD3EE300}" type="presParOf" srcId="{6079145D-1A09-4928-AA64-547251E61B26}" destId="{8B572CB1-96BA-4652-991C-C056FF533132}" srcOrd="3" destOrd="0" presId="urn:microsoft.com/office/officeart/2005/8/layout/vList3"/>
    <dgm:cxn modelId="{8A616B18-C4CC-4F54-8E33-F3CE960FED9C}" type="presParOf" srcId="{6079145D-1A09-4928-AA64-547251E61B26}" destId="{F2AB015B-0A3F-4D93-87FE-47C64FDC4BF7}" srcOrd="4" destOrd="0" presId="urn:microsoft.com/office/officeart/2005/8/layout/vList3"/>
    <dgm:cxn modelId="{7C0D462B-2E05-4094-87D6-1456668FAABF}" type="presParOf" srcId="{F2AB015B-0A3F-4D93-87FE-47C64FDC4BF7}" destId="{8A0630A2-F5D4-4F60-885C-596B5FDDCD61}" srcOrd="0" destOrd="0" presId="urn:microsoft.com/office/officeart/2005/8/layout/vList3"/>
    <dgm:cxn modelId="{1E494A70-6674-47AD-BDF3-FB2201BC1F0C}" type="presParOf" srcId="{F2AB015B-0A3F-4D93-87FE-47C64FDC4BF7}" destId="{97376D8E-074C-4ECD-BC42-67721B59193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FACA5-4FDF-4433-A0B6-DAB8DC77E363}">
      <dsp:nvSpPr>
        <dsp:cNvPr id="0" name=""/>
        <dsp:cNvSpPr/>
      </dsp:nvSpPr>
      <dsp:spPr>
        <a:xfrm rot="10800000">
          <a:off x="3011435" y="617"/>
          <a:ext cx="10520559" cy="1446079"/>
        </a:xfrm>
        <a:prstGeom prst="homePlate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8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latin typeface="+mj-lt"/>
            </a:rPr>
            <a:t>Finlande, un leader éducatif : </a:t>
          </a:r>
          <a:r>
            <a:rPr lang="fr-FR" sz="2400" kern="1200" dirty="0">
              <a:latin typeface="+mj-lt"/>
            </a:rPr>
            <a:t>Croissance continue des investissements, marché stable et hautement technologique.</a:t>
          </a:r>
        </a:p>
      </dsp:txBody>
      <dsp:txXfrm rot="10800000">
        <a:off x="3372955" y="617"/>
        <a:ext cx="10159039" cy="1446079"/>
      </dsp:txXfrm>
    </dsp:sp>
    <dsp:sp modelId="{785724D0-D6AF-41BB-ADE8-34084B20256A}">
      <dsp:nvSpPr>
        <dsp:cNvPr id="0" name=""/>
        <dsp:cNvSpPr/>
      </dsp:nvSpPr>
      <dsp:spPr>
        <a:xfrm>
          <a:off x="2288395" y="617"/>
          <a:ext cx="1446079" cy="144607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2000" r="-3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F6B7D-0E9F-4335-85DD-8C2389F64A93}">
      <dsp:nvSpPr>
        <dsp:cNvPr id="0" name=""/>
        <dsp:cNvSpPr/>
      </dsp:nvSpPr>
      <dsp:spPr>
        <a:xfrm rot="10800000">
          <a:off x="3011435" y="1808217"/>
          <a:ext cx="10520559" cy="1446079"/>
        </a:xfrm>
        <a:prstGeom prst="homePlate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8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latin typeface="+mj-lt"/>
            </a:rPr>
            <a:t>Brésil, un marché vaste et dynamique : </a:t>
          </a:r>
          <a:r>
            <a:rPr lang="fr-FR" sz="2400" b="0" kern="1200" dirty="0">
              <a:latin typeface="+mj-lt"/>
            </a:rPr>
            <a:t>Investissements en forte hausse, démographie importante et besoin accru en </a:t>
          </a:r>
          <a:r>
            <a:rPr lang="fr-FR" sz="2400" b="0" kern="1200" dirty="0" err="1">
              <a:latin typeface="+mj-lt"/>
            </a:rPr>
            <a:t>EdTech</a:t>
          </a:r>
          <a:r>
            <a:rPr lang="fr-FR" sz="2400" b="0" kern="1200" dirty="0">
              <a:latin typeface="+mj-lt"/>
            </a:rPr>
            <a:t>.</a:t>
          </a:r>
          <a:endParaRPr lang="fr-FR" sz="2400" b="1" kern="1200" dirty="0">
            <a:latin typeface="+mj-lt"/>
          </a:endParaRPr>
        </a:p>
      </dsp:txBody>
      <dsp:txXfrm rot="10800000">
        <a:off x="3372955" y="1808217"/>
        <a:ext cx="10159039" cy="1446079"/>
      </dsp:txXfrm>
    </dsp:sp>
    <dsp:sp modelId="{F1240D93-267E-41FC-8777-AC25C9063B40}">
      <dsp:nvSpPr>
        <dsp:cNvPr id="0" name=""/>
        <dsp:cNvSpPr/>
      </dsp:nvSpPr>
      <dsp:spPr>
        <a:xfrm>
          <a:off x="2288395" y="1808217"/>
          <a:ext cx="1446079" cy="144607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1000" r="-2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76D8E-074C-4ECD-BC42-67721B591933}">
      <dsp:nvSpPr>
        <dsp:cNvPr id="0" name=""/>
        <dsp:cNvSpPr/>
      </dsp:nvSpPr>
      <dsp:spPr>
        <a:xfrm rot="10800000">
          <a:off x="3011435" y="3615817"/>
          <a:ext cx="10520559" cy="1446079"/>
        </a:xfrm>
        <a:prstGeom prst="homePlate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681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latin typeface="+mj-lt"/>
            </a:rPr>
            <a:t>Turquie, une expansion éducative rapide :</a:t>
          </a:r>
          <a:r>
            <a:rPr lang="fr-FR" sz="2400" b="0" kern="1200" dirty="0">
              <a:latin typeface="+mj-lt"/>
            </a:rPr>
            <a:t> Croissance rapide des investissements, fort potentiel démographique et position stratégique.</a:t>
          </a:r>
          <a:endParaRPr lang="fr-FR" sz="2400" b="1" kern="1200" dirty="0">
            <a:latin typeface="+mj-lt"/>
          </a:endParaRPr>
        </a:p>
      </dsp:txBody>
      <dsp:txXfrm rot="10800000">
        <a:off x="3372955" y="3615817"/>
        <a:ext cx="10159039" cy="1446079"/>
      </dsp:txXfrm>
    </dsp:sp>
    <dsp:sp modelId="{8A0630A2-F5D4-4F60-885C-596B5FDDCD61}">
      <dsp:nvSpPr>
        <dsp:cNvPr id="0" name=""/>
        <dsp:cNvSpPr/>
      </dsp:nvSpPr>
      <dsp:spPr>
        <a:xfrm>
          <a:off x="2288395" y="3615817"/>
          <a:ext cx="1446079" cy="1446079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30/01/2025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30/01/2025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2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D63498-AA6B-4FA3-8C0C-F047B32E6A28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9393B2-D2D1-46F0-81A9-FE2ED5E7F998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90C3F-53CA-4279-A2D5-C68C34A1B7FE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E3742E-AFBE-42DF-91BB-D2D1057FFA79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D3CAEB-0D2D-466C-AFB9-F2937F51F366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92E680-0F8A-43BD-BDFD-C0D03E7F344B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7189FD-F089-49F7-A99B-945C4E0C4AF5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07288E-1786-4A50-AD68-D3D5A2E1F461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A2F46-A3F2-4FAD-B8A1-978F19EF1438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6D2216-24AE-4A93-BEA9-26FD9BE8D8E8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4311B-E9D3-41DC-B3A4-2DA1CBB5303E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30/01/2025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scientest.com/data-cleaning-definitio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5.svg"/><Relationship Id="rId7" Type="http://schemas.openxmlformats.org/officeDocument/2006/relationships/image" Target="../media/image4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9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globe-globe-photographed-modern-restaurant-image99776359" TargetMode="Externa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501" y="3894719"/>
            <a:ext cx="9144000" cy="1883593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fr-FR" sz="4800" b="1" dirty="0">
                <a:solidFill>
                  <a:schemeClr val="bg1"/>
                </a:solidFill>
              </a:rPr>
              <a:t>Analyse exploratoire pour une expansion internationale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sz="4000" dirty="0">
                <a:solidFill>
                  <a:schemeClr val="accent4"/>
                </a:solidFill>
              </a:rPr>
              <a:t>Présentation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Losang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7" name="Groupe 6" descr="Icône de graphique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26522" y="3144375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e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D578C1D6-F3D1-C80A-49EA-B02276C9B133}"/>
              </a:ext>
            </a:extLst>
          </p:cNvPr>
          <p:cNvSpPr txBox="1"/>
          <p:nvPr/>
        </p:nvSpPr>
        <p:spPr>
          <a:xfrm>
            <a:off x="3614045" y="5946807"/>
            <a:ext cx="4865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bg1"/>
                </a:solidFill>
                <a:latin typeface="+mj-lt"/>
              </a:rPr>
              <a:t>Academy</a:t>
            </a:r>
            <a:endParaRPr lang="fr-FR" sz="32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e 22">
            <a:extLst>
              <a:ext uri="{FF2B5EF4-FFF2-40B4-BE49-F238E27FC236}">
                <a16:creationId xmlns:a16="http://schemas.microsoft.com/office/drawing/2014/main" id="{364CFD90-D0E1-4BC3-9D8B-7503E263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1626" y="1720850"/>
            <a:ext cx="3968750" cy="39687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44443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 du projet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E3ECCC05-FF78-40FA-84FF-172821D8B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48275" y="2857500"/>
            <a:ext cx="1695450" cy="16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b="1" dirty="0">
                <a:latin typeface="+mj-lt"/>
              </a:rPr>
              <a:t>PROJET</a:t>
            </a:r>
          </a:p>
        </p:txBody>
      </p:sp>
      <p:sp>
        <p:nvSpPr>
          <p:cNvPr id="16" name="Rectangle : Coins arrondis 15">
            <a:extLst>
              <a:ext uri="{FF2B5EF4-FFF2-40B4-BE49-F238E27FC236}">
                <a16:creationId xmlns:a16="http://schemas.microsoft.com/office/drawing/2014/main" id="{D6178536-4D8A-4FF2-BBDC-4B3E7E0F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1600" dirty="0"/>
              <a:t>             2. PRÉSENTATION DE LA BDD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16F1356-9015-4B5C-9C64-3C1D963E5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151447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19" name="Rectangle : Coins arrondis 18">
            <a:extLst>
              <a:ext uri="{FF2B5EF4-FFF2-40B4-BE49-F238E27FC236}">
                <a16:creationId xmlns:a16="http://schemas.microsoft.com/office/drawing/2014/main" id="{EB7F2E37-0ACF-4E8A-9C1D-EC5B65BA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025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0"/>
            <a:r>
              <a:rPr lang="fr-FR" sz="1600" dirty="0"/>
              <a:t>4. NETTOYAGE DES DONNÉES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8F812F5-70AF-4FBD-80D9-D59B3C456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0264" y="323532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1" name="Rectangle : Coins arrondis 20">
            <a:extLst>
              <a:ext uri="{FF2B5EF4-FFF2-40B4-BE49-F238E27FC236}">
                <a16:creationId xmlns:a16="http://schemas.microsoft.com/office/drawing/2014/main" id="{952C5002-7E64-4069-ACA0-6876E54A9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725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fr-FR" sz="1600" dirty="0"/>
              <a:t>6. CONCLUSIONS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A49C5F3A-6F0D-4A0F-AE6E-92F342C2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32600" y="5055576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5" name="Rectangle : Coins arrondis 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161387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dirty="0"/>
              <a:t>1. PRÉSENTATION DU SUJET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BBC62739-FA35-49F8-8929-743B31F5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1514475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7" name="Rectangle : Coins arrondis 26">
            <a:extLst>
              <a:ext uri="{FF2B5EF4-FFF2-40B4-BE49-F238E27FC236}">
                <a16:creationId xmlns:a16="http://schemas.microsoft.com/office/drawing/2014/main" id="{71BB375D-5EE6-4428-9817-2C7DB6B9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3334727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dirty="0"/>
              <a:t>3. SÉLECTION DES DONNÉES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B3A511B7-C7F3-4107-9962-1E10D2E0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300" y="3235325"/>
            <a:ext cx="939800" cy="9398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9" name="Rectangle : Coins arrondis 28">
            <a:extLst>
              <a:ext uri="{FF2B5EF4-FFF2-40B4-BE49-F238E27FC236}">
                <a16:creationId xmlns:a16="http://schemas.microsoft.com/office/drawing/2014/main" id="{D4D7D4B6-62C2-45AB-89A5-3A41DA02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7500" y="5154978"/>
            <a:ext cx="3660775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fr-FR" sz="1600" dirty="0"/>
              <a:t>   5. ANALYSE DES DONNÉES</a:t>
            </a: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83902602-D4BC-4D44-AC14-BB55A86C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9600" y="5055576"/>
            <a:ext cx="939800" cy="9398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31" name="Groupe 30" descr="Icônes de graphique à barres et en courbes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7123642" y="1802732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orme libre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3" name="Forme libre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34" name="Forme libre 1676" descr="Icône de case à cocher. ">
            <a:extLst>
              <a:ext uri="{FF2B5EF4-FFF2-40B4-BE49-F238E27FC236}">
                <a16:creationId xmlns:a16="http://schemas.microsoft.com/office/drawing/2014/main" id="{6FB02354-C73F-4DCF-8004-E9CCA66963EA}"/>
              </a:ext>
            </a:extLst>
          </p:cNvPr>
          <p:cNvSpPr>
            <a:spLocks noEditPoints="1"/>
          </p:cNvSpPr>
          <p:nvPr/>
        </p:nvSpPr>
        <p:spPr bwMode="auto">
          <a:xfrm>
            <a:off x="4716908" y="1811496"/>
            <a:ext cx="345758" cy="345758"/>
          </a:xfrm>
          <a:custGeom>
            <a:avLst/>
            <a:gdLst>
              <a:gd name="T0" fmla="*/ 374 w 719"/>
              <a:gd name="T1" fmla="*/ 267 h 719"/>
              <a:gd name="T2" fmla="*/ 366 w 719"/>
              <a:gd name="T3" fmla="*/ 263 h 719"/>
              <a:gd name="T4" fmla="*/ 362 w 719"/>
              <a:gd name="T5" fmla="*/ 254 h 719"/>
              <a:gd name="T6" fmla="*/ 366 w 719"/>
              <a:gd name="T7" fmla="*/ 247 h 719"/>
              <a:gd name="T8" fmla="*/ 374 w 719"/>
              <a:gd name="T9" fmla="*/ 243 h 719"/>
              <a:gd name="T10" fmla="*/ 621 w 719"/>
              <a:gd name="T11" fmla="*/ 244 h 719"/>
              <a:gd name="T12" fmla="*/ 627 w 719"/>
              <a:gd name="T13" fmla="*/ 250 h 719"/>
              <a:gd name="T14" fmla="*/ 627 w 719"/>
              <a:gd name="T15" fmla="*/ 260 h 719"/>
              <a:gd name="T16" fmla="*/ 621 w 719"/>
              <a:gd name="T17" fmla="*/ 265 h 719"/>
              <a:gd name="T18" fmla="*/ 616 w 719"/>
              <a:gd name="T19" fmla="*/ 528 h 719"/>
              <a:gd name="T20" fmla="*/ 370 w 719"/>
              <a:gd name="T21" fmla="*/ 527 h 719"/>
              <a:gd name="T22" fmla="*/ 363 w 719"/>
              <a:gd name="T23" fmla="*/ 521 h 719"/>
              <a:gd name="T24" fmla="*/ 363 w 719"/>
              <a:gd name="T25" fmla="*/ 512 h 719"/>
              <a:gd name="T26" fmla="*/ 370 w 719"/>
              <a:gd name="T27" fmla="*/ 505 h 719"/>
              <a:gd name="T28" fmla="*/ 616 w 719"/>
              <a:gd name="T29" fmla="*/ 504 h 719"/>
              <a:gd name="T30" fmla="*/ 625 w 719"/>
              <a:gd name="T31" fmla="*/ 507 h 719"/>
              <a:gd name="T32" fmla="*/ 628 w 719"/>
              <a:gd name="T33" fmla="*/ 516 h 719"/>
              <a:gd name="T34" fmla="*/ 625 w 719"/>
              <a:gd name="T35" fmla="*/ 525 h 719"/>
              <a:gd name="T36" fmla="*/ 616 w 719"/>
              <a:gd name="T37" fmla="*/ 528 h 719"/>
              <a:gd name="T38" fmla="*/ 171 w 719"/>
              <a:gd name="T39" fmla="*/ 279 h 719"/>
              <a:gd name="T40" fmla="*/ 164 w 719"/>
              <a:gd name="T41" fmla="*/ 282 h 719"/>
              <a:gd name="T42" fmla="*/ 155 w 719"/>
              <a:gd name="T43" fmla="*/ 279 h 719"/>
              <a:gd name="T44" fmla="*/ 92 w 719"/>
              <a:gd name="T45" fmla="*/ 214 h 719"/>
              <a:gd name="T46" fmla="*/ 92 w 719"/>
              <a:gd name="T47" fmla="*/ 205 h 719"/>
              <a:gd name="T48" fmla="*/ 98 w 719"/>
              <a:gd name="T49" fmla="*/ 198 h 719"/>
              <a:gd name="T50" fmla="*/ 107 w 719"/>
              <a:gd name="T51" fmla="*/ 198 h 719"/>
              <a:gd name="T52" fmla="*/ 164 w 719"/>
              <a:gd name="T53" fmla="*/ 253 h 719"/>
              <a:gd name="T54" fmla="*/ 309 w 719"/>
              <a:gd name="T55" fmla="*/ 109 h 719"/>
              <a:gd name="T56" fmla="*/ 318 w 719"/>
              <a:gd name="T57" fmla="*/ 109 h 719"/>
              <a:gd name="T58" fmla="*/ 325 w 719"/>
              <a:gd name="T59" fmla="*/ 114 h 719"/>
              <a:gd name="T60" fmla="*/ 325 w 719"/>
              <a:gd name="T61" fmla="*/ 124 h 719"/>
              <a:gd name="T62" fmla="*/ 323 w 719"/>
              <a:gd name="T63" fmla="*/ 414 h 719"/>
              <a:gd name="T64" fmla="*/ 168 w 719"/>
              <a:gd name="T65" fmla="*/ 568 h 719"/>
              <a:gd name="T66" fmla="*/ 158 w 719"/>
              <a:gd name="T67" fmla="*/ 568 h 719"/>
              <a:gd name="T68" fmla="*/ 94 w 719"/>
              <a:gd name="T69" fmla="*/ 505 h 719"/>
              <a:gd name="T70" fmla="*/ 91 w 719"/>
              <a:gd name="T71" fmla="*/ 497 h 719"/>
              <a:gd name="T72" fmla="*/ 94 w 719"/>
              <a:gd name="T73" fmla="*/ 488 h 719"/>
              <a:gd name="T74" fmla="*/ 103 w 719"/>
              <a:gd name="T75" fmla="*/ 485 h 719"/>
              <a:gd name="T76" fmla="*/ 111 w 719"/>
              <a:gd name="T77" fmla="*/ 488 h 719"/>
              <a:gd name="T78" fmla="*/ 306 w 719"/>
              <a:gd name="T79" fmla="*/ 397 h 719"/>
              <a:gd name="T80" fmla="*/ 314 w 719"/>
              <a:gd name="T81" fmla="*/ 394 h 719"/>
              <a:gd name="T82" fmla="*/ 323 w 719"/>
              <a:gd name="T83" fmla="*/ 398 h 719"/>
              <a:gd name="T84" fmla="*/ 326 w 719"/>
              <a:gd name="T85" fmla="*/ 406 h 719"/>
              <a:gd name="T86" fmla="*/ 323 w 719"/>
              <a:gd name="T87" fmla="*/ 414 h 719"/>
              <a:gd name="T88" fmla="*/ 12 w 719"/>
              <a:gd name="T89" fmla="*/ 0 h 719"/>
              <a:gd name="T90" fmla="*/ 3 w 719"/>
              <a:gd name="T91" fmla="*/ 5 h 719"/>
              <a:gd name="T92" fmla="*/ 0 w 719"/>
              <a:gd name="T93" fmla="*/ 13 h 719"/>
              <a:gd name="T94" fmla="*/ 1 w 719"/>
              <a:gd name="T95" fmla="*/ 713 h 719"/>
              <a:gd name="T96" fmla="*/ 8 w 719"/>
              <a:gd name="T97" fmla="*/ 719 h 719"/>
              <a:gd name="T98" fmla="*/ 707 w 719"/>
              <a:gd name="T99" fmla="*/ 719 h 719"/>
              <a:gd name="T100" fmla="*/ 716 w 719"/>
              <a:gd name="T101" fmla="*/ 716 h 719"/>
              <a:gd name="T102" fmla="*/ 719 w 719"/>
              <a:gd name="T103" fmla="*/ 707 h 719"/>
              <a:gd name="T104" fmla="*/ 718 w 719"/>
              <a:gd name="T105" fmla="*/ 8 h 719"/>
              <a:gd name="T106" fmla="*/ 711 w 719"/>
              <a:gd name="T107" fmla="*/ 2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19" h="719">
                <a:moveTo>
                  <a:pt x="616" y="267"/>
                </a:moveTo>
                <a:lnTo>
                  <a:pt x="374" y="267"/>
                </a:lnTo>
                <a:lnTo>
                  <a:pt x="370" y="265"/>
                </a:lnTo>
                <a:lnTo>
                  <a:pt x="366" y="263"/>
                </a:lnTo>
                <a:lnTo>
                  <a:pt x="363" y="260"/>
                </a:lnTo>
                <a:lnTo>
                  <a:pt x="362" y="254"/>
                </a:lnTo>
                <a:lnTo>
                  <a:pt x="363" y="250"/>
                </a:lnTo>
                <a:lnTo>
                  <a:pt x="366" y="247"/>
                </a:lnTo>
                <a:lnTo>
                  <a:pt x="370" y="244"/>
                </a:lnTo>
                <a:lnTo>
                  <a:pt x="374" y="243"/>
                </a:lnTo>
                <a:lnTo>
                  <a:pt x="616" y="243"/>
                </a:lnTo>
                <a:lnTo>
                  <a:pt x="621" y="244"/>
                </a:lnTo>
                <a:lnTo>
                  <a:pt x="625" y="247"/>
                </a:lnTo>
                <a:lnTo>
                  <a:pt x="627" y="250"/>
                </a:lnTo>
                <a:lnTo>
                  <a:pt x="628" y="254"/>
                </a:lnTo>
                <a:lnTo>
                  <a:pt x="627" y="260"/>
                </a:lnTo>
                <a:lnTo>
                  <a:pt x="625" y="263"/>
                </a:lnTo>
                <a:lnTo>
                  <a:pt x="621" y="265"/>
                </a:lnTo>
                <a:lnTo>
                  <a:pt x="616" y="267"/>
                </a:lnTo>
                <a:close/>
                <a:moveTo>
                  <a:pt x="616" y="528"/>
                </a:moveTo>
                <a:lnTo>
                  <a:pt x="374" y="528"/>
                </a:lnTo>
                <a:lnTo>
                  <a:pt x="370" y="527"/>
                </a:lnTo>
                <a:lnTo>
                  <a:pt x="366" y="525"/>
                </a:lnTo>
                <a:lnTo>
                  <a:pt x="363" y="521"/>
                </a:lnTo>
                <a:lnTo>
                  <a:pt x="362" y="516"/>
                </a:lnTo>
                <a:lnTo>
                  <a:pt x="363" y="512"/>
                </a:lnTo>
                <a:lnTo>
                  <a:pt x="366" y="507"/>
                </a:lnTo>
                <a:lnTo>
                  <a:pt x="370" y="505"/>
                </a:lnTo>
                <a:lnTo>
                  <a:pt x="374" y="504"/>
                </a:lnTo>
                <a:lnTo>
                  <a:pt x="616" y="504"/>
                </a:lnTo>
                <a:lnTo>
                  <a:pt x="621" y="505"/>
                </a:lnTo>
                <a:lnTo>
                  <a:pt x="625" y="507"/>
                </a:lnTo>
                <a:lnTo>
                  <a:pt x="627" y="512"/>
                </a:lnTo>
                <a:lnTo>
                  <a:pt x="628" y="516"/>
                </a:lnTo>
                <a:lnTo>
                  <a:pt x="627" y="521"/>
                </a:lnTo>
                <a:lnTo>
                  <a:pt x="625" y="525"/>
                </a:lnTo>
                <a:lnTo>
                  <a:pt x="621" y="527"/>
                </a:lnTo>
                <a:lnTo>
                  <a:pt x="616" y="528"/>
                </a:lnTo>
                <a:close/>
                <a:moveTo>
                  <a:pt x="323" y="127"/>
                </a:moveTo>
                <a:lnTo>
                  <a:pt x="171" y="279"/>
                </a:lnTo>
                <a:lnTo>
                  <a:pt x="168" y="282"/>
                </a:lnTo>
                <a:lnTo>
                  <a:pt x="164" y="282"/>
                </a:lnTo>
                <a:lnTo>
                  <a:pt x="158" y="282"/>
                </a:lnTo>
                <a:lnTo>
                  <a:pt x="155" y="279"/>
                </a:lnTo>
                <a:lnTo>
                  <a:pt x="94" y="218"/>
                </a:lnTo>
                <a:lnTo>
                  <a:pt x="92" y="214"/>
                </a:lnTo>
                <a:lnTo>
                  <a:pt x="91" y="209"/>
                </a:lnTo>
                <a:lnTo>
                  <a:pt x="92" y="205"/>
                </a:lnTo>
                <a:lnTo>
                  <a:pt x="94" y="201"/>
                </a:lnTo>
                <a:lnTo>
                  <a:pt x="98" y="198"/>
                </a:lnTo>
                <a:lnTo>
                  <a:pt x="103" y="197"/>
                </a:lnTo>
                <a:lnTo>
                  <a:pt x="107" y="198"/>
                </a:lnTo>
                <a:lnTo>
                  <a:pt x="111" y="201"/>
                </a:lnTo>
                <a:lnTo>
                  <a:pt x="164" y="253"/>
                </a:lnTo>
                <a:lnTo>
                  <a:pt x="306" y="111"/>
                </a:lnTo>
                <a:lnTo>
                  <a:pt x="309" y="109"/>
                </a:lnTo>
                <a:lnTo>
                  <a:pt x="314" y="108"/>
                </a:lnTo>
                <a:lnTo>
                  <a:pt x="318" y="109"/>
                </a:lnTo>
                <a:lnTo>
                  <a:pt x="323" y="111"/>
                </a:lnTo>
                <a:lnTo>
                  <a:pt x="325" y="114"/>
                </a:lnTo>
                <a:lnTo>
                  <a:pt x="326" y="119"/>
                </a:lnTo>
                <a:lnTo>
                  <a:pt x="325" y="124"/>
                </a:lnTo>
                <a:lnTo>
                  <a:pt x="323" y="127"/>
                </a:lnTo>
                <a:close/>
                <a:moveTo>
                  <a:pt x="323" y="414"/>
                </a:moveTo>
                <a:lnTo>
                  <a:pt x="171" y="565"/>
                </a:lnTo>
                <a:lnTo>
                  <a:pt x="168" y="568"/>
                </a:lnTo>
                <a:lnTo>
                  <a:pt x="164" y="569"/>
                </a:lnTo>
                <a:lnTo>
                  <a:pt x="158" y="568"/>
                </a:lnTo>
                <a:lnTo>
                  <a:pt x="155" y="565"/>
                </a:lnTo>
                <a:lnTo>
                  <a:pt x="94" y="505"/>
                </a:lnTo>
                <a:lnTo>
                  <a:pt x="92" y="502"/>
                </a:lnTo>
                <a:lnTo>
                  <a:pt x="91" y="497"/>
                </a:lnTo>
                <a:lnTo>
                  <a:pt x="92" y="493"/>
                </a:lnTo>
                <a:lnTo>
                  <a:pt x="94" y="488"/>
                </a:lnTo>
                <a:lnTo>
                  <a:pt x="98" y="486"/>
                </a:lnTo>
                <a:lnTo>
                  <a:pt x="103" y="485"/>
                </a:lnTo>
                <a:lnTo>
                  <a:pt x="107" y="486"/>
                </a:lnTo>
                <a:lnTo>
                  <a:pt x="111" y="488"/>
                </a:lnTo>
                <a:lnTo>
                  <a:pt x="164" y="540"/>
                </a:lnTo>
                <a:lnTo>
                  <a:pt x="306" y="397"/>
                </a:lnTo>
                <a:lnTo>
                  <a:pt x="309" y="395"/>
                </a:lnTo>
                <a:lnTo>
                  <a:pt x="314" y="394"/>
                </a:lnTo>
                <a:lnTo>
                  <a:pt x="318" y="395"/>
                </a:lnTo>
                <a:lnTo>
                  <a:pt x="323" y="398"/>
                </a:lnTo>
                <a:lnTo>
                  <a:pt x="325" y="401"/>
                </a:lnTo>
                <a:lnTo>
                  <a:pt x="326" y="406"/>
                </a:lnTo>
                <a:lnTo>
                  <a:pt x="325" y="410"/>
                </a:lnTo>
                <a:lnTo>
                  <a:pt x="323" y="414"/>
                </a:lnTo>
                <a:close/>
                <a:moveTo>
                  <a:pt x="707" y="0"/>
                </a:moveTo>
                <a:lnTo>
                  <a:pt x="12" y="0"/>
                </a:lnTo>
                <a:lnTo>
                  <a:pt x="8" y="2"/>
                </a:lnTo>
                <a:lnTo>
                  <a:pt x="3" y="5"/>
                </a:lnTo>
                <a:lnTo>
                  <a:pt x="1" y="8"/>
                </a:lnTo>
                <a:lnTo>
                  <a:pt x="0" y="13"/>
                </a:lnTo>
                <a:lnTo>
                  <a:pt x="0" y="707"/>
                </a:lnTo>
                <a:lnTo>
                  <a:pt x="1" y="713"/>
                </a:lnTo>
                <a:lnTo>
                  <a:pt x="3" y="716"/>
                </a:lnTo>
                <a:lnTo>
                  <a:pt x="8" y="719"/>
                </a:lnTo>
                <a:lnTo>
                  <a:pt x="12" y="719"/>
                </a:lnTo>
                <a:lnTo>
                  <a:pt x="707" y="719"/>
                </a:lnTo>
                <a:lnTo>
                  <a:pt x="711" y="719"/>
                </a:lnTo>
                <a:lnTo>
                  <a:pt x="716" y="716"/>
                </a:lnTo>
                <a:lnTo>
                  <a:pt x="718" y="713"/>
                </a:lnTo>
                <a:lnTo>
                  <a:pt x="719" y="707"/>
                </a:lnTo>
                <a:lnTo>
                  <a:pt x="719" y="13"/>
                </a:lnTo>
                <a:lnTo>
                  <a:pt x="718" y="8"/>
                </a:lnTo>
                <a:lnTo>
                  <a:pt x="716" y="5"/>
                </a:lnTo>
                <a:lnTo>
                  <a:pt x="711" y="2"/>
                </a:lnTo>
                <a:lnTo>
                  <a:pt x="7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35" name="Forme libre 4665" descr="Icône de graphique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36" name="Groupe 35" descr="Icône de personne et d’engrenage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orme libre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38" name="Forme libre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39" name="Groupe 38" descr="Icône d’engrenages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orme libre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1" name="Forme libre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42" name="Forme libre 4346" descr="Icône de graphique en boîte à moustaches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599" y="312725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Présentation du Sujet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èze 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3" name="Trapèze 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4" name="Trapèze 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5" name="Trapèze 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6" name="Trapèze 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ENTREPRISE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OBJECTIF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OPPORTUNITÉ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2462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1600" b="1" dirty="0">
                <a:solidFill>
                  <a:schemeClr val="bg1"/>
                </a:solidFill>
              </a:rPr>
              <a:t>MISSION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Academy</a:t>
            </a: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, une start-up spécialisée dans la formation en ligne pour lycéens et universitaires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534162-B6E2-4579-9DAD-AD8DE07459BC}"/>
              </a:ext>
            </a:extLst>
          </p:cNvPr>
          <p:cNvSpPr/>
          <p:nvPr/>
        </p:nvSpPr>
        <p:spPr>
          <a:xfrm>
            <a:off x="3053182" y="3653603"/>
            <a:ext cx="17520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L’entreprise cherche à identifier les pays à fort potentiel d’expansion pour y développer ses solutions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Utiliser les données éducatives mondiales pour guider la stratégie d’internationalisation d’</a:t>
            </a:r>
            <a:r>
              <a:rPr lang="fr-FR" sz="1400" dirty="0" err="1">
                <a:solidFill>
                  <a:schemeClr val="bg1"/>
                </a:solidFill>
                <a:cs typeface="Segoe UI" panose="020B0502040204020203" pitchFamily="34" charset="0"/>
              </a:rPr>
              <a:t>Academy</a:t>
            </a:r>
            <a:endParaRPr lang="fr-FR" sz="140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Les évolutions dans l’éducation offrent des nouvelles opportunités d’accès à des marchés émergents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198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chemeClr val="bg1"/>
                </a:solidFill>
                <a:cs typeface="Segoe UI" panose="020B0502040204020203" pitchFamily="34" charset="0"/>
              </a:rPr>
              <a:t>Mener une analyse exploratoire et fournir des recommandations basées sur les données fournies</a:t>
            </a:r>
          </a:p>
        </p:txBody>
      </p:sp>
      <p:sp>
        <p:nvSpPr>
          <p:cNvPr id="56" name="Forme libre 4197" descr="Icône de chariot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sp>
        <p:nvSpPr>
          <p:cNvPr id="57" name="Forme libre 4344" descr="Icône de clé à molette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  <p:grpSp>
        <p:nvGrpSpPr>
          <p:cNvPr id="58" name="Groupe 57" descr="Icône d’argent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8111828" y="2288721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orme libre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0" name="Forme libre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1" name="Forme libre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2" name="Forme libre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3" name="Forme libre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4" name="Forme libre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5" name="Forme libre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6" name="Forme libre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grpSp>
        <p:nvGrpSpPr>
          <p:cNvPr id="67" name="Groupe 66" descr="Icône de boulier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5901666" y="2288722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orme libre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9" name="Forme libre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0" name="Forme libre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1" name="Forme libre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72" name="Forme libre 2319" descr="Icône de feuille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A39743D-481C-5457-D79F-155D7F695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5F38D4D9-FA74-1B99-2BBE-4309490A1A90}"/>
              </a:ext>
            </a:extLst>
          </p:cNvPr>
          <p:cNvSpPr txBox="1">
            <a:spLocks/>
          </p:cNvSpPr>
          <p:nvPr/>
        </p:nvSpPr>
        <p:spPr>
          <a:xfrm>
            <a:off x="228599" y="312725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rgbClr val="404040"/>
                </a:solidFill>
              </a:rPr>
              <a:t>Présentation</a:t>
            </a:r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BDD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319008E-D6B5-E7D7-66ED-025F8464E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59E84D8-F2AE-8AD5-DBD9-3DFE3579D3DA}"/>
              </a:ext>
            </a:extLst>
          </p:cNvPr>
          <p:cNvSpPr txBox="1"/>
          <p:nvPr/>
        </p:nvSpPr>
        <p:spPr>
          <a:xfrm>
            <a:off x="1200150" y="2245000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Indicateurs disponibles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Plus de 4 000 indicateurs couvrant l’accès à l’éducation, la progression, les enseignants, les dépenses et la population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342E341-78FD-5D82-4E2D-5191AB5502E8}"/>
              </a:ext>
            </a:extLst>
          </p:cNvPr>
          <p:cNvSpPr txBox="1"/>
          <p:nvPr/>
        </p:nvSpPr>
        <p:spPr>
          <a:xfrm>
            <a:off x="6585859" y="2245000"/>
            <a:ext cx="4405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Couverture globale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Cycle éducatif complet : de la maternelle à l’enseignement tertiaire complet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17BA0F-ADB1-570B-795C-C08BD1143125}"/>
              </a:ext>
            </a:extLst>
          </p:cNvPr>
          <p:cNvSpPr txBox="1"/>
          <p:nvPr/>
        </p:nvSpPr>
        <p:spPr>
          <a:xfrm>
            <a:off x="1200149" y="4602007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Évaluations et projections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Résultats d’évaluations internationales (PISA, TIMSS, PIRLS) données d’équité et projections jusqu’en 2100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D0B642B-3860-0071-60F3-D11C542618F3}"/>
              </a:ext>
            </a:extLst>
          </p:cNvPr>
          <p:cNvSpPr txBox="1"/>
          <p:nvPr/>
        </p:nvSpPr>
        <p:spPr>
          <a:xfrm>
            <a:off x="6585858" y="4602006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Utilité pour </a:t>
            </a:r>
            <a:r>
              <a:rPr lang="fr-FR" sz="1600" b="1" dirty="0" err="1">
                <a:solidFill>
                  <a:srgbClr val="404040"/>
                </a:solidFill>
                <a:latin typeface="+mj-lt"/>
              </a:rPr>
              <a:t>Academy</a:t>
            </a: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Des données précises pour identifier les opportunités dans les marchés émergents et avancés</a:t>
            </a:r>
          </a:p>
        </p:txBody>
      </p:sp>
      <p:pic>
        <p:nvPicPr>
          <p:cNvPr id="14" name="Graphique 13" descr="Base de données avec un remplissage uni">
            <a:extLst>
              <a:ext uri="{FF2B5EF4-FFF2-40B4-BE49-F238E27FC236}">
                <a16:creationId xmlns:a16="http://schemas.microsoft.com/office/drawing/2014/main" id="{CE5DC19F-4D7E-9769-C2CB-8B660FF4E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7216" y="1498741"/>
            <a:ext cx="771858" cy="771858"/>
          </a:xfrm>
          <a:prstGeom prst="rect">
            <a:avLst/>
          </a:prstGeom>
        </p:spPr>
      </p:pic>
      <p:pic>
        <p:nvPicPr>
          <p:cNvPr id="16" name="Graphique 15" descr="Globe terrestre : Amériques avec un remplissage uni">
            <a:extLst>
              <a:ext uri="{FF2B5EF4-FFF2-40B4-BE49-F238E27FC236}">
                <a16:creationId xmlns:a16="http://schemas.microsoft.com/office/drawing/2014/main" id="{6DD7F5AF-C7A1-BF00-AB81-C227152EE2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2925" y="1498741"/>
            <a:ext cx="771858" cy="771858"/>
          </a:xfrm>
          <a:prstGeom prst="rect">
            <a:avLst/>
          </a:prstGeom>
        </p:spPr>
      </p:pic>
      <p:pic>
        <p:nvPicPr>
          <p:cNvPr id="18" name="Graphique 17" descr="Ampoule avec un remplissage uni">
            <a:extLst>
              <a:ext uri="{FF2B5EF4-FFF2-40B4-BE49-F238E27FC236}">
                <a16:creationId xmlns:a16="http://schemas.microsoft.com/office/drawing/2014/main" id="{E172B15F-5B5A-9B34-1B7E-D56EFD4312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2925" y="3830148"/>
            <a:ext cx="771858" cy="771858"/>
          </a:xfrm>
          <a:prstGeom prst="rect">
            <a:avLst/>
          </a:prstGeom>
        </p:spPr>
      </p:pic>
      <p:pic>
        <p:nvPicPr>
          <p:cNvPr id="20" name="Graphique 19" descr="Tendance à la hausse avec un remplissage uni">
            <a:extLst>
              <a:ext uri="{FF2B5EF4-FFF2-40B4-BE49-F238E27FC236}">
                <a16:creationId xmlns:a16="http://schemas.microsoft.com/office/drawing/2014/main" id="{A289F6E4-6998-5DEF-8D5E-1F8DAFB544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7216" y="3830148"/>
            <a:ext cx="771858" cy="77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5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847E85E-857D-8873-885F-76612329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7232AA55-52BA-A07E-D26D-CF3D715B0292}"/>
              </a:ext>
            </a:extLst>
          </p:cNvPr>
          <p:cNvSpPr txBox="1">
            <a:spLocks/>
          </p:cNvSpPr>
          <p:nvPr/>
        </p:nvSpPr>
        <p:spPr>
          <a:xfrm>
            <a:off x="228599" y="312725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rgbClr val="404040"/>
                </a:solidFill>
              </a:rPr>
              <a:t>Présentation</a:t>
            </a:r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la BDD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93561AC-8171-7566-6FA8-F02366CAE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983BBE8E-D245-8DBF-3ACF-BB113944C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199584"/>
              </p:ext>
            </p:extLst>
          </p:nvPr>
        </p:nvGraphicFramePr>
        <p:xfrm>
          <a:off x="870176" y="1522366"/>
          <a:ext cx="10451646" cy="42628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73024">
                  <a:extLst>
                    <a:ext uri="{9D8B030D-6E8A-4147-A177-3AD203B41FA5}">
                      <a16:colId xmlns:a16="http://schemas.microsoft.com/office/drawing/2014/main" val="954992358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688378861"/>
                    </a:ext>
                  </a:extLst>
                </a:gridCol>
                <a:gridCol w="1738993">
                  <a:extLst>
                    <a:ext uri="{9D8B030D-6E8A-4147-A177-3AD203B41FA5}">
                      <a16:colId xmlns:a16="http://schemas.microsoft.com/office/drawing/2014/main" val="3720870272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2867209521"/>
                    </a:ext>
                  </a:extLst>
                </a:gridCol>
                <a:gridCol w="1738993">
                  <a:extLst>
                    <a:ext uri="{9D8B030D-6E8A-4147-A177-3AD203B41FA5}">
                      <a16:colId xmlns:a16="http://schemas.microsoft.com/office/drawing/2014/main" val="1382751212"/>
                    </a:ext>
                  </a:extLst>
                </a:gridCol>
                <a:gridCol w="1712458">
                  <a:extLst>
                    <a:ext uri="{9D8B030D-6E8A-4147-A177-3AD203B41FA5}">
                      <a16:colId xmlns:a16="http://schemas.microsoft.com/office/drawing/2014/main" val="1768008497"/>
                    </a:ext>
                  </a:extLst>
                </a:gridCol>
              </a:tblGrid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Noms des Jeux de Données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Data</a:t>
                      </a: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Country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err="1">
                          <a:latin typeface="+mj-lt"/>
                        </a:rPr>
                        <a:t>Series</a:t>
                      </a:r>
                      <a:endParaRPr lang="fr-FR" sz="1200" dirty="0">
                        <a:latin typeface="+mj-lt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Country-</a:t>
                      </a:r>
                      <a:r>
                        <a:rPr lang="fr-FR" sz="1200" dirty="0" err="1">
                          <a:latin typeface="+mj-lt"/>
                        </a:rPr>
                        <a:t>Series</a:t>
                      </a:r>
                      <a:endParaRPr lang="fr-FR" sz="1200" dirty="0">
                        <a:latin typeface="+mj-lt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err="1">
                          <a:latin typeface="+mj-lt"/>
                        </a:rPr>
                        <a:t>FootNote</a:t>
                      </a:r>
                      <a:endParaRPr lang="fr-FR" sz="1200" dirty="0">
                        <a:latin typeface="+mj-lt"/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73222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Cellules vides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53 455 179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2 354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55 203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643 638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156873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Lignes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886 930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3 665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643 638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03014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Colonnes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73340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Colonnes algébriques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180341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Colonnes numériques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096421"/>
                  </a:ext>
                </a:extLst>
              </a:tr>
              <a:tr h="512354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latin typeface="+mj-lt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Contient les données brutes récoltées, avec en ligne les indicateurs par pays, et en colonne les années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Contient la liste de tous les pays et régions de la base de données, avec les informations sur la récolte des données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Présente les différents indicateurs avec leurs sources, leurs descriptions, et leurs unités de mesure notamment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+mj-lt"/>
                        </a:rPr>
                        <a:t>Associe les couples pays/indicateur, et mentionne les sources des données, spécifiques à chaque couple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Associe les couples pays/indicateur, et en fait une brève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29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117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Sélection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e 2">
            <a:extLst>
              <a:ext uri="{FF2B5EF4-FFF2-40B4-BE49-F238E27FC236}">
                <a16:creationId xmlns:a16="http://schemas.microsoft.com/office/drawing/2014/main" id="{9F23A462-D581-4451-A275-D8FA412E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1786303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400" dirty="0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3FAD125B-9A3B-49A4-B9EC-C8A6D3CF9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32" y="4071326"/>
            <a:ext cx="1587500" cy="158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233E4AB5-6FC1-4454-9421-850EF5A4A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9244" y="2928814"/>
            <a:ext cx="1587500" cy="15875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40123448-0B37-4226-B26C-A3081E614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5256" y="2928814"/>
            <a:ext cx="1587500" cy="15875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355211EE-8286-42CD-A4AF-EDD1186B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2928814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D3287700-63E7-4098-B825-B123C1113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1107833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69943F00-C6CB-4F10-A02B-801F37984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81268" y="4749795"/>
            <a:ext cx="1587500" cy="1587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cxnSp>
        <p:nvCxnSpPr>
          <p:cNvPr id="10" name="Connecteur : Coude 9">
            <a:extLst>
              <a:ext uri="{FF2B5EF4-FFF2-40B4-BE49-F238E27FC236}">
                <a16:creationId xmlns:a16="http://schemas.microsoft.com/office/drawing/2014/main" id="{78C71AAC-D0D2-4BBF-B302-54163A284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3" idx="6"/>
            <a:endCxn id="41" idx="6"/>
          </p:cNvCxnSpPr>
          <p:nvPr/>
        </p:nvCxnSpPr>
        <p:spPr>
          <a:xfrm>
            <a:off x="3310732" y="2580053"/>
            <a:ext cx="12700" cy="2285023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31AB5AC-284A-472B-B8E5-2F198F4E9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3540125" y="3722564"/>
            <a:ext cx="569119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 77">
            <a:extLst>
              <a:ext uri="{FF2B5EF4-FFF2-40B4-BE49-F238E27FC236}">
                <a16:creationId xmlns:a16="http://schemas.microsoft.com/office/drawing/2014/main" id="{91394D4E-BC7A-418D-B233-6C374456A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42" idx="6"/>
            <a:endCxn id="73" idx="2"/>
          </p:cNvCxnSpPr>
          <p:nvPr/>
        </p:nvCxnSpPr>
        <p:spPr>
          <a:xfrm>
            <a:off x="5696744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61AAA85B-D8C7-43BE-844A-625265015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3" idx="6"/>
            <a:endCxn id="75" idx="2"/>
          </p:cNvCxnSpPr>
          <p:nvPr/>
        </p:nvCxnSpPr>
        <p:spPr>
          <a:xfrm>
            <a:off x="8082756" y="3722564"/>
            <a:ext cx="798512" cy="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Coude 20">
            <a:extLst>
              <a:ext uri="{FF2B5EF4-FFF2-40B4-BE49-F238E27FC236}">
                <a16:creationId xmlns:a16="http://schemas.microsoft.com/office/drawing/2014/main" id="{4741AA56-D9ED-492E-8385-5CB8274B1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76" idx="2"/>
            <a:endCxn id="77" idx="2"/>
          </p:cNvCxnSpPr>
          <p:nvPr/>
        </p:nvCxnSpPr>
        <p:spPr>
          <a:xfrm rot="10800000" flipV="1">
            <a:off x="8881268" y="1901583"/>
            <a:ext cx="12700" cy="3641962"/>
          </a:xfrm>
          <a:prstGeom prst="bentConnector3">
            <a:avLst>
              <a:gd name="adj1" fmla="val 1800000"/>
            </a:avLst>
          </a:prstGeom>
          <a:ln w="22225">
            <a:solidFill>
              <a:schemeClr val="tx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BEBF752-C33D-4EC4-8210-F7B1D3A10097}"/>
              </a:ext>
            </a:extLst>
          </p:cNvPr>
          <p:cNvSpPr/>
          <p:nvPr/>
        </p:nvSpPr>
        <p:spPr>
          <a:xfrm>
            <a:off x="1831182" y="2210722"/>
            <a:ext cx="1371600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Données de la Banque Mondiale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EC02E4-F054-4111-9038-AE0BDA4C8060}"/>
              </a:ext>
            </a:extLst>
          </p:cNvPr>
          <p:cNvSpPr/>
          <p:nvPr/>
        </p:nvSpPr>
        <p:spPr>
          <a:xfrm>
            <a:off x="1831182" y="4741965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 err="1">
                <a:solidFill>
                  <a:schemeClr val="bg1"/>
                </a:solidFill>
              </a:rPr>
              <a:t>Academy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771041D-83B6-4693-BC25-25AABB3CE3BF}"/>
              </a:ext>
            </a:extLst>
          </p:cNvPr>
          <p:cNvSpPr/>
          <p:nvPr/>
        </p:nvSpPr>
        <p:spPr>
          <a:xfrm>
            <a:off x="4217194" y="3599454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Objectifs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6EE26A-3174-49AD-900E-08C045755F3C}"/>
              </a:ext>
            </a:extLst>
          </p:cNvPr>
          <p:cNvSpPr/>
          <p:nvPr/>
        </p:nvSpPr>
        <p:spPr>
          <a:xfrm>
            <a:off x="6607968" y="3599454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Indicateurs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B69453F-B845-4467-8C29-7A6677641EC0}"/>
              </a:ext>
            </a:extLst>
          </p:cNvPr>
          <p:cNvSpPr/>
          <p:nvPr/>
        </p:nvSpPr>
        <p:spPr>
          <a:xfrm>
            <a:off x="8941593" y="3622951"/>
            <a:ext cx="147955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Démographiques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7CFAFBF-6B2A-49A8-ADCE-FD94A08C87B3}"/>
              </a:ext>
            </a:extLst>
          </p:cNvPr>
          <p:cNvSpPr/>
          <p:nvPr/>
        </p:nvSpPr>
        <p:spPr>
          <a:xfrm>
            <a:off x="8989218" y="1778472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Économiques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B499F5E-706B-4272-818B-C87149038662}"/>
              </a:ext>
            </a:extLst>
          </p:cNvPr>
          <p:cNvSpPr/>
          <p:nvPr/>
        </p:nvSpPr>
        <p:spPr>
          <a:xfrm>
            <a:off x="8989218" y="5420435"/>
            <a:ext cx="1371600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>
                <a:solidFill>
                  <a:schemeClr val="bg1"/>
                </a:solidFill>
              </a:rPr>
              <a:t>Technologiques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9B46693-ED1F-429F-9B11-2794939E3B99}"/>
              </a:ext>
            </a:extLst>
          </p:cNvPr>
          <p:cNvSpPr/>
          <p:nvPr/>
        </p:nvSpPr>
        <p:spPr>
          <a:xfrm>
            <a:off x="6166416" y="4741965"/>
            <a:ext cx="2238941" cy="9543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Ceux-ci devront répondre au maximum aux besoins et spécifications des services et cibles d’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Academy</a:t>
            </a:r>
            <a:endParaRPr lang="fr-FR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F8D1DEA-0363-4C10-925D-1D68E14CCEF4}"/>
              </a:ext>
            </a:extLst>
          </p:cNvPr>
          <p:cNvSpPr/>
          <p:nvPr/>
        </p:nvSpPr>
        <p:spPr>
          <a:xfrm>
            <a:off x="3789873" y="4749233"/>
            <a:ext cx="2238941" cy="9543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>
              <a:lnSpc>
                <a:spcPts val="1900"/>
              </a:lnSpc>
            </a:pPr>
            <a:r>
              <a:rPr lang="fr-FR" sz="1400" dirty="0">
                <a:solidFill>
                  <a:srgbClr val="404040"/>
                </a:solidFill>
                <a:cs typeface="Segoe UI" panose="020B0502040204020203" pitchFamily="34" charset="0"/>
              </a:rPr>
              <a:t>Trouver des indicateurs </a:t>
            </a:r>
            <a:r>
              <a:rPr lang="fr-FR" sz="1400" i="0" dirty="0">
                <a:solidFill>
                  <a:srgbClr val="404040"/>
                </a:solidFill>
                <a:effectLst/>
              </a:rPr>
              <a:t>indiquant une demande potentielle pour les services éducatifs</a:t>
            </a:r>
            <a:endParaRPr lang="fr-FR" sz="1400" dirty="0">
              <a:solidFill>
                <a:srgbClr val="404040"/>
              </a:solidFill>
              <a:cs typeface="Segoe UI" panose="020B050204020402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927301F-4FAD-47A6-987B-1D9C411B7CC1}"/>
              </a:ext>
            </a:extLst>
          </p:cNvPr>
          <p:cNvSpPr/>
          <p:nvPr/>
        </p:nvSpPr>
        <p:spPr>
          <a:xfrm>
            <a:off x="10576718" y="1058918"/>
            <a:ext cx="1441450" cy="168533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L’économie et la politique du pays en matière d’éducation doit être propice au développement de solutions 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EdTech</a:t>
            </a:r>
            <a:endParaRPr lang="fr-FR" sz="1400" dirty="0">
              <a:solidFill>
                <a:schemeClr val="tx1">
                  <a:lumMod val="75000"/>
                  <a:lumOff val="25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81D58D3-87D7-4D40-B59F-7F751F117F96}"/>
              </a:ext>
            </a:extLst>
          </p:cNvPr>
          <p:cNvSpPr/>
          <p:nvPr/>
        </p:nvSpPr>
        <p:spPr>
          <a:xfrm>
            <a:off x="10576718" y="3001727"/>
            <a:ext cx="1501774" cy="14416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Le taux de scolarisation ou le nombre d’étudiants pourraient faciliter l’implantation d’</a:t>
            </a:r>
            <a:r>
              <a:rPr lang="fr-F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Academy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C2972F-490F-4F2F-8A08-930B8C850374}"/>
              </a:ext>
            </a:extLst>
          </p:cNvPr>
          <p:cNvSpPr/>
          <p:nvPr/>
        </p:nvSpPr>
        <p:spPr>
          <a:xfrm>
            <a:off x="10576718" y="4822707"/>
            <a:ext cx="1501774" cy="14416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Le développement technologique est un paramètre clé pour le déploiement de services connectés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69BDC62-882D-49FD-B60A-05F493B04723}"/>
              </a:ext>
            </a:extLst>
          </p:cNvPr>
          <p:cNvSpPr/>
          <p:nvPr/>
        </p:nvSpPr>
        <p:spPr>
          <a:xfrm>
            <a:off x="148432" y="1981044"/>
            <a:ext cx="1466850" cy="119802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Contient un jeu d’indicateurs renseignant sur les services éducatifs internationaux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109BEC-95E0-4EA0-B65C-A8353481F394}"/>
              </a:ext>
            </a:extLst>
          </p:cNvPr>
          <p:cNvSpPr/>
          <p:nvPr/>
        </p:nvSpPr>
        <p:spPr>
          <a:xfrm>
            <a:off x="138908" y="4022411"/>
            <a:ext cx="1476374" cy="168533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r" rtl="0">
              <a:lnSpc>
                <a:spcPts val="1900"/>
              </a:lnSpc>
            </a:pP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Segoe UI" panose="020B0502040204020203" pitchFamily="34" charset="0"/>
              </a:rPr>
              <a:t>Souhaite trouver des pays à fort potentiel pour proposer ses services adressés aux lycéens et universitaires</a:t>
            </a: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61A24463-A1CD-5525-DECA-9AFCF66FB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537B2BE8-E202-8B07-BBA2-E952B5ABE92B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Sélection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2541510-0952-BE8F-06A8-8004472C0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èche : pentagone 4">
            <a:extLst>
              <a:ext uri="{FF2B5EF4-FFF2-40B4-BE49-F238E27FC236}">
                <a16:creationId xmlns:a16="http://schemas.microsoft.com/office/drawing/2014/main" id="{FD8531D6-6A30-925A-BF82-40CE5F98F770}"/>
              </a:ext>
            </a:extLst>
          </p:cNvPr>
          <p:cNvSpPr/>
          <p:nvPr/>
        </p:nvSpPr>
        <p:spPr>
          <a:xfrm>
            <a:off x="868134" y="2726872"/>
            <a:ext cx="3570516" cy="3037114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E1F0C44A-D85E-C152-E6FB-6AB0FA79DD2F}"/>
              </a:ext>
            </a:extLst>
          </p:cNvPr>
          <p:cNvSpPr/>
          <p:nvPr/>
        </p:nvSpPr>
        <p:spPr>
          <a:xfrm>
            <a:off x="7860846" y="2726856"/>
            <a:ext cx="3570516" cy="3037115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Flèche : chevron 6">
            <a:extLst>
              <a:ext uri="{FF2B5EF4-FFF2-40B4-BE49-F238E27FC236}">
                <a16:creationId xmlns:a16="http://schemas.microsoft.com/office/drawing/2014/main" id="{61841458-DF8E-DA26-AEAE-AD02A778F0EA}"/>
              </a:ext>
            </a:extLst>
          </p:cNvPr>
          <p:cNvSpPr/>
          <p:nvPr/>
        </p:nvSpPr>
        <p:spPr>
          <a:xfrm>
            <a:off x="3199038" y="2726866"/>
            <a:ext cx="3570516" cy="3037115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lèche : chevron 7">
            <a:extLst>
              <a:ext uri="{FF2B5EF4-FFF2-40B4-BE49-F238E27FC236}">
                <a16:creationId xmlns:a16="http://schemas.microsoft.com/office/drawing/2014/main" id="{C7EB0193-B0D3-AA60-20F5-D12A3F4F8DC9}"/>
              </a:ext>
            </a:extLst>
          </p:cNvPr>
          <p:cNvSpPr/>
          <p:nvPr/>
        </p:nvSpPr>
        <p:spPr>
          <a:xfrm>
            <a:off x="5529942" y="2726856"/>
            <a:ext cx="3570516" cy="3037115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6" name="Graphique 15" descr="Graphique à barres avec tendance à la baisse avec un remplissage uni">
            <a:extLst>
              <a:ext uri="{FF2B5EF4-FFF2-40B4-BE49-F238E27FC236}">
                <a16:creationId xmlns:a16="http://schemas.microsoft.com/office/drawing/2014/main" id="{054A7BBE-1594-5CD5-ED05-CAD05F2DC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0851" y="1686290"/>
            <a:ext cx="775597" cy="775597"/>
          </a:xfrm>
          <a:prstGeom prst="rect">
            <a:avLst/>
          </a:prstGeom>
        </p:spPr>
      </p:pic>
      <p:pic>
        <p:nvPicPr>
          <p:cNvPr id="18" name="Graphique 17" descr="Coche avec un remplissage uni">
            <a:extLst>
              <a:ext uri="{FF2B5EF4-FFF2-40B4-BE49-F238E27FC236}">
                <a16:creationId xmlns:a16="http://schemas.microsoft.com/office/drawing/2014/main" id="{6E6E15F5-F792-1F7D-74C1-CB8349022C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2659" y="1686288"/>
            <a:ext cx="775597" cy="775597"/>
          </a:xfrm>
          <a:prstGeom prst="rect">
            <a:avLst/>
          </a:prstGeom>
        </p:spPr>
      </p:pic>
      <p:pic>
        <p:nvPicPr>
          <p:cNvPr id="20" name="Graphique 19" descr="Liste avec un remplissage uni">
            <a:extLst>
              <a:ext uri="{FF2B5EF4-FFF2-40B4-BE49-F238E27FC236}">
                <a16:creationId xmlns:a16="http://schemas.microsoft.com/office/drawing/2014/main" id="{935C170E-8712-9701-D7F9-46972B6A96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1755" y="1686289"/>
            <a:ext cx="775597" cy="775597"/>
          </a:xfrm>
          <a:prstGeom prst="rect">
            <a:avLst/>
          </a:prstGeom>
        </p:spPr>
      </p:pic>
      <p:pic>
        <p:nvPicPr>
          <p:cNvPr id="22" name="Graphique 21" descr="Panneau d’interdiction avec un remplissage uni">
            <a:extLst>
              <a:ext uri="{FF2B5EF4-FFF2-40B4-BE49-F238E27FC236}">
                <a16:creationId xmlns:a16="http://schemas.microsoft.com/office/drawing/2014/main" id="{B7A6A21A-BFA9-DF9E-CBA5-498EBF8327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9947" y="1686287"/>
            <a:ext cx="775597" cy="775597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03461741-69B5-05F9-69F9-2D2572A396B7}"/>
              </a:ext>
            </a:extLst>
          </p:cNvPr>
          <p:cNvSpPr txBox="1"/>
          <p:nvPr/>
        </p:nvSpPr>
        <p:spPr>
          <a:xfrm>
            <a:off x="985837" y="3105834"/>
            <a:ext cx="2114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Suppression des lignes vides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BEEEB9C-0F1C-FE2B-16C4-2AFB27D4C0F7}"/>
              </a:ext>
            </a:extLst>
          </p:cNvPr>
          <p:cNvSpPr txBox="1"/>
          <p:nvPr/>
        </p:nvSpPr>
        <p:spPr>
          <a:xfrm>
            <a:off x="8620472" y="3136611"/>
            <a:ext cx="2114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Sélection des indicateurs finaux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11E70C6-9610-31EA-7970-C7A34C31B815}"/>
              </a:ext>
            </a:extLst>
          </p:cNvPr>
          <p:cNvSpPr txBox="1"/>
          <p:nvPr/>
        </p:nvSpPr>
        <p:spPr>
          <a:xfrm>
            <a:off x="6096000" y="2980728"/>
            <a:ext cx="2197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+mj-lt"/>
              </a:rPr>
              <a:t>Exclusion des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indicateurs non pertinents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11B6B71-FC83-1D61-9BCD-94F97AE2280F}"/>
              </a:ext>
            </a:extLst>
          </p:cNvPr>
          <p:cNvSpPr txBox="1"/>
          <p:nvPr/>
        </p:nvSpPr>
        <p:spPr>
          <a:xfrm>
            <a:off x="3827003" y="3136612"/>
            <a:ext cx="1998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Tri des indicateurs par effectifs 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58C2004-14EA-082C-C139-74E29B6E3DB3}"/>
              </a:ext>
            </a:extLst>
          </p:cNvPr>
          <p:cNvSpPr txBox="1"/>
          <p:nvPr/>
        </p:nvSpPr>
        <p:spPr>
          <a:xfrm>
            <a:off x="1069521" y="4073979"/>
            <a:ext cx="2825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Initialement 886 930 lignes, réduites à 357 405 après suppression des données incomplètes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A8A52CC-C66A-5A3D-D60A-DA9238983143}"/>
              </a:ext>
            </a:extLst>
          </p:cNvPr>
          <p:cNvSpPr txBox="1"/>
          <p:nvPr/>
        </p:nvSpPr>
        <p:spPr>
          <a:xfrm>
            <a:off x="3241221" y="3857283"/>
            <a:ext cx="3282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        Classement des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           indicateurs par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        fréquence pour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   identifier les plus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représentatifs et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exploitables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E032BC5-D029-083E-4017-8E0ED32B58EC}"/>
              </a:ext>
            </a:extLst>
          </p:cNvPr>
          <p:cNvSpPr txBox="1"/>
          <p:nvPr/>
        </p:nvSpPr>
        <p:spPr>
          <a:xfrm>
            <a:off x="6226282" y="4069571"/>
            <a:ext cx="29898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  Filtrage des 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niveaux éducatifs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et exclusion des 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genres spécifiques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D61DE64-D0CB-51AF-9F19-942B88CFD3E3}"/>
              </a:ext>
            </a:extLst>
          </p:cNvPr>
          <p:cNvSpPr txBox="1"/>
          <p:nvPr/>
        </p:nvSpPr>
        <p:spPr>
          <a:xfrm>
            <a:off x="8614836" y="4066840"/>
            <a:ext cx="29898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Conservation des             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          indicateurs 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     pertinents pour le </a:t>
            </a:r>
          </a:p>
          <a:p>
            <a:r>
              <a:rPr lang="fr-FR" sz="1600" dirty="0">
                <a:solidFill>
                  <a:schemeClr val="bg1"/>
                </a:solidFill>
                <a:latin typeface="+mj-lt"/>
              </a:rPr>
              <a:t> lycée et l’université</a:t>
            </a:r>
          </a:p>
        </p:txBody>
      </p:sp>
    </p:spTree>
    <p:extLst>
      <p:ext uri="{BB962C8B-B14F-4D97-AF65-F5344CB8AC3E}">
        <p14:creationId xmlns:p14="http://schemas.microsoft.com/office/powerpoint/2010/main" val="43391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EE73968-204F-8C76-B6E8-7B5FA510C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683DFA21-F03D-F83F-092C-767F4BCFE591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Sélection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D934AA2-9238-72F5-9204-05A4B16E2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B5173933-CAAE-7563-79BC-BCB7F168D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65973"/>
              </p:ext>
            </p:extLst>
          </p:nvPr>
        </p:nvGraphicFramePr>
        <p:xfrm>
          <a:off x="740228" y="1096605"/>
          <a:ext cx="10711544" cy="4739576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355772">
                  <a:extLst>
                    <a:ext uri="{9D8B030D-6E8A-4147-A177-3AD203B41FA5}">
                      <a16:colId xmlns:a16="http://schemas.microsoft.com/office/drawing/2014/main" val="1748131335"/>
                    </a:ext>
                  </a:extLst>
                </a:gridCol>
                <a:gridCol w="5355772">
                  <a:extLst>
                    <a:ext uri="{9D8B030D-6E8A-4147-A177-3AD203B41FA5}">
                      <a16:colId xmlns:a16="http://schemas.microsoft.com/office/drawing/2014/main" val="2206991570"/>
                    </a:ext>
                  </a:extLst>
                </a:gridCol>
              </a:tblGrid>
              <a:tr h="135979">
                <a:tc>
                  <a:txBody>
                    <a:bodyPr/>
                    <a:lstStyle/>
                    <a:p>
                      <a:pPr fontAlgn="ctr"/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</a:rPr>
                        <a:t>Indicateurs</a:t>
                      </a:r>
                      <a:endParaRPr lang="fr-FR" sz="11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fr-FR" sz="1100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099492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Internet users (per 100 people)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Indicateur clé pour l'accès aux services en ligne, car plus le taux d'utilisateurs d'Internet est élevé, plus le potentiel pour l'éducation en ligne est grand.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59724192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GNI, PPP (</a:t>
                      </a:r>
                      <a:r>
                        <a:rPr lang="fr-FR" sz="1100" b="1" dirty="0" err="1">
                          <a:solidFill>
                            <a:schemeClr val="tx1"/>
                          </a:solidFill>
                          <a:effectLst/>
                        </a:rPr>
                        <a:t>current</a:t>
                      </a:r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 international $)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chemeClr val="tx1"/>
                          </a:solidFill>
                          <a:effectLst/>
                        </a:rPr>
                        <a:t>Le revenu national brut (ajusté en parité de pouvoir d'achat) indique le niveau de richesse du pays et sa capacité à dépenser pour des services éducatifs.</a:t>
                      </a:r>
                      <a:endParaRPr lang="fr-FR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746250260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Gross enrolment ratio, upper secondary, both sexes (%)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chemeClr val="tx1"/>
                          </a:solidFill>
                          <a:effectLst/>
                        </a:rPr>
                        <a:t>Permet de voir le taux de scolarisation dans le secondaire, qui est une des cibles principales d'academy.</a:t>
                      </a:r>
                      <a:endParaRPr lang="fr-FR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011549555"/>
                  </a:ext>
                </a:extLst>
              </a:tr>
              <a:tr h="237964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Gross enrolment ratio, tertiary, both sexes (%)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>
                          <a:solidFill>
                            <a:schemeClr val="tx1"/>
                          </a:solidFill>
                          <a:effectLst/>
                        </a:rPr>
                        <a:t>Indique l'accès à l'enseignement supérieur, qui est un marché potentiel pour academy.</a:t>
                      </a:r>
                      <a:endParaRPr lang="fr-FR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155807113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fr-FR" sz="1100" b="1" dirty="0" err="1">
                          <a:solidFill>
                            <a:schemeClr val="tx1"/>
                          </a:solidFill>
                          <a:effectLst/>
                        </a:rPr>
                        <a:t>Personal</a:t>
                      </a:r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</a:rPr>
                        <a:t> computers (per 100 people)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Comme pour l'accès à Internet, cet indicateur aide à mesurer l'accès aux technologies nécessaires pour les cours en ligne.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226624688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Percentage of enrolment in upper secondary education in private institutions (%)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Donne une idée du développement du secteur privé dans l'éducation, ce qui pourrait être un indicateur de marché pour des formations en ligne payantes.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51986954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Percentage of enrolment in tertiary education in private institutions (%)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Indicateur similaire au précédent mais pour le supérieur, montrant la propension à payer pour l'éducation dans ce pays.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54251555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Government expenditure on education as % of GDP (%)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Donne une idée de l'engagement du gouvernement envers l'éducation, un facteur important pour l'infrastructure éducative.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901817876"/>
                  </a:ext>
                </a:extLst>
              </a:tr>
              <a:tr h="237964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Government expenditure on tertiary education as % of GDP (%)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Permet de voir l'investissement public dans l'enseignement supérieur.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901938601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Government expenditure on secondary education as % of GDP (%)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Similaire au précédent, mais pour le secondaire, pour comprendre le soutien gouvernemental dans les niveaux ciblés par </a:t>
                      </a:r>
                      <a:r>
                        <a:rPr lang="fr-FR" sz="1100" dirty="0" err="1">
                          <a:solidFill>
                            <a:schemeClr val="tx1"/>
                          </a:solidFill>
                          <a:effectLst/>
                        </a:rPr>
                        <a:t>academy</a:t>
                      </a: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867021046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Expenditure on education as % of total government expenditure (%)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Mesure le poids de l'éducation dans le budget global du gouvernement, ce qui indique les priorités nationales.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020282976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Government expenditure per upper secondary student (PPP$)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Indique les ressources allouées par étudiant dans le secondaire, montrant l’investissement éducatif pour ce niveau.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81405714"/>
                  </a:ext>
                </a:extLst>
              </a:tr>
              <a:tr h="339948">
                <a:tc>
                  <a:txBody>
                    <a:bodyPr/>
                    <a:lstStyle/>
                    <a:p>
                      <a:pPr fontAlgn="ctr"/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Government expenditure per tertiary student (PPP$)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Idem pour le supérieur, ce qui peut être un indicateur de la qualité de l'enseignement supérieur dans le pays.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93801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50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58A2C27-A2F0-D6B6-96C5-CE984CC6C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8EF74FEC-9BD5-7546-21D7-B386DB87F220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479319A-6CCF-B143-6388-5A55A2AAC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296082BB-310D-B87D-2A5F-08DAF6994DB4}"/>
              </a:ext>
            </a:extLst>
          </p:cNvPr>
          <p:cNvSpPr txBox="1"/>
          <p:nvPr/>
        </p:nvSpPr>
        <p:spPr>
          <a:xfrm>
            <a:off x="832757" y="1118509"/>
            <a:ext cx="566601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+mj-lt"/>
              </a:rPr>
              <a:t>Filtrage des années pertinentes</a:t>
            </a:r>
          </a:p>
          <a:p>
            <a:endParaRPr lang="fr-FR" sz="2800" b="1" dirty="0">
              <a:latin typeface="+mj-lt"/>
            </a:endParaRP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Sélection des années avec le plus de données :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Choix porté sur les années 1999 à 2013, qui contiennent le moins de valeurs manquantes pour une base solide d’analyse.</a:t>
            </a:r>
          </a:p>
          <a:p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Projections éducatives :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Inclusion des années 2014 à 2016 pour explorer les investissements futurs dans l’éducation</a:t>
            </a:r>
          </a:p>
          <a:p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Limites des données de projection :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Les projections après 2016 manquent de données , nécessitant des estimations pour des prévisions jusqu’en 2030.</a:t>
            </a:r>
          </a:p>
          <a:p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Conclusion :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Étude des indicateurs sur la période 1999-2016, avec des projections estimées jusqu’en 2030.</a:t>
            </a:r>
          </a:p>
        </p:txBody>
      </p:sp>
      <p:pic>
        <p:nvPicPr>
          <p:cNvPr id="2050" name="Picture 2" descr="Data Cleaning : définition, techniques, importance en Data Science">
            <a:extLst>
              <a:ext uri="{FF2B5EF4-FFF2-40B4-BE49-F238E27FC236}">
                <a16:creationId xmlns:a16="http://schemas.microsoft.com/office/drawing/2014/main" id="{13F50FAF-0FC9-DF90-CC92-72388636B3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4" r="22349"/>
          <a:stretch/>
        </p:blipFill>
        <p:spPr bwMode="auto">
          <a:xfrm>
            <a:off x="6910112" y="1087146"/>
            <a:ext cx="5281887" cy="5223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C0AFC78-1AFF-2F13-DDBC-A7737016313D}"/>
              </a:ext>
            </a:extLst>
          </p:cNvPr>
          <p:cNvSpPr txBox="1"/>
          <p:nvPr/>
        </p:nvSpPr>
        <p:spPr>
          <a:xfrm>
            <a:off x="8539843" y="6335102"/>
            <a:ext cx="36521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chemeClr val="bg2">
                    <a:lumMod val="75000"/>
                  </a:schemeClr>
                </a:solidFill>
              </a:rPr>
              <a:t>Source : </a:t>
            </a:r>
            <a:r>
              <a:rPr lang="fr-FR" sz="800" dirty="0">
                <a:solidFill>
                  <a:schemeClr val="bg2">
                    <a:lumMod val="75000"/>
                  </a:schemeClr>
                </a:solidFill>
                <a:hlinkClick r:id="rId3"/>
              </a:rPr>
              <a:t>datascientest.com</a:t>
            </a:r>
            <a:endParaRPr lang="fr-FR" sz="800" dirty="0">
              <a:solidFill>
                <a:schemeClr val="bg2">
                  <a:lumMod val="75000"/>
                </a:schemeClr>
              </a:solidFill>
            </a:endParaRPr>
          </a:p>
          <a:p>
            <a:pPr algn="r"/>
            <a:endParaRPr lang="fr-FR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53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D64ED25-4086-6791-6CD2-19FD84B75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F6B1EB88-73A2-D3B9-6DD5-27CE66E755E6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59F6AE1-15FF-DC4C-8E2D-31129B05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26B0CA53-2884-A9C2-0B82-2DA44DA921C8}"/>
              </a:ext>
            </a:extLst>
          </p:cNvPr>
          <p:cNvSpPr txBox="1"/>
          <p:nvPr/>
        </p:nvSpPr>
        <p:spPr>
          <a:xfrm>
            <a:off x="228600" y="963388"/>
            <a:ext cx="119634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+mj-lt"/>
              </a:rPr>
              <a:t>Réorganisation des données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Objectif :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Réorganiser  les données pour une analyse facilitée, avec les pays en lignes et les indicateurs en colonnes.</a:t>
            </a:r>
          </a:p>
          <a:p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Code utilisé : 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Création d’un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pivot_table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pour chaque année étudiée, avec les indicateurs comme colonnes et les valeurs correspondantes.</a:t>
            </a:r>
          </a:p>
          <a:p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Structure obtenue :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Un 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Dataframe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par année, permettant une exploration précise et cohérente des données.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5AE835-5C9A-8CE3-2341-6BE2F59A0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236" y="3429000"/>
            <a:ext cx="9914164" cy="3026535"/>
          </a:xfrm>
          <a:prstGeom prst="rect">
            <a:avLst/>
          </a:prstGeom>
        </p:spPr>
      </p:pic>
      <p:sp>
        <p:nvSpPr>
          <p:cNvPr id="10" name="Bulle narrative : rectangle 9">
            <a:extLst>
              <a:ext uri="{FF2B5EF4-FFF2-40B4-BE49-F238E27FC236}">
                <a16:creationId xmlns:a16="http://schemas.microsoft.com/office/drawing/2014/main" id="{CE2DBB5A-ED33-17E9-78AC-87782EA5852C}"/>
              </a:ext>
            </a:extLst>
          </p:cNvPr>
          <p:cNvSpPr/>
          <p:nvPr/>
        </p:nvSpPr>
        <p:spPr>
          <a:xfrm>
            <a:off x="383721" y="3868282"/>
            <a:ext cx="1396093" cy="1113217"/>
          </a:xfrm>
          <a:prstGeom prst="wedgeRectCallout">
            <a:avLst>
              <a:gd name="adj1" fmla="val 20102"/>
              <a:gd name="adj2" fmla="val 18693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Exemple de </a:t>
            </a:r>
            <a:r>
              <a:rPr lang="fr-FR" sz="1600" dirty="0" err="1"/>
              <a:t>Dataframe</a:t>
            </a:r>
            <a:r>
              <a:rPr lang="fr-FR" sz="1600" dirty="0"/>
              <a:t> obtenu pour l’année 2009</a:t>
            </a:r>
          </a:p>
        </p:txBody>
      </p:sp>
    </p:spTree>
    <p:extLst>
      <p:ext uri="{BB962C8B-B14F-4D97-AF65-F5344CB8AC3E}">
        <p14:creationId xmlns:p14="http://schemas.microsoft.com/office/powerpoint/2010/main" val="300269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0EBBB2DA-B3C0-BF28-7355-9267DF8F3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F00FDAC0-624E-8FEA-30AF-72C78B5201AD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C38E540-1F04-C6D9-EBDC-567918911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286FCCD3-5E00-DD26-D35F-78690E15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867"/>
            <a:ext cx="12192000" cy="2451133"/>
          </a:xfrm>
          <a:prstGeom prst="rect">
            <a:avLst/>
          </a:prstGeom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9B32A8B-C126-71DD-02FF-DD46D3F26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904464"/>
              </p:ext>
            </p:extLst>
          </p:nvPr>
        </p:nvGraphicFramePr>
        <p:xfrm>
          <a:off x="476932" y="3501260"/>
          <a:ext cx="11238135" cy="31689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627">
                  <a:extLst>
                    <a:ext uri="{9D8B030D-6E8A-4147-A177-3AD203B41FA5}">
                      <a16:colId xmlns:a16="http://schemas.microsoft.com/office/drawing/2014/main" val="1004787238"/>
                    </a:ext>
                  </a:extLst>
                </a:gridCol>
                <a:gridCol w="2247627">
                  <a:extLst>
                    <a:ext uri="{9D8B030D-6E8A-4147-A177-3AD203B41FA5}">
                      <a16:colId xmlns:a16="http://schemas.microsoft.com/office/drawing/2014/main" val="2181360013"/>
                    </a:ext>
                  </a:extLst>
                </a:gridCol>
                <a:gridCol w="2247627">
                  <a:extLst>
                    <a:ext uri="{9D8B030D-6E8A-4147-A177-3AD203B41FA5}">
                      <a16:colId xmlns:a16="http://schemas.microsoft.com/office/drawing/2014/main" val="4203173700"/>
                    </a:ext>
                  </a:extLst>
                </a:gridCol>
                <a:gridCol w="2247627">
                  <a:extLst>
                    <a:ext uri="{9D8B030D-6E8A-4147-A177-3AD203B41FA5}">
                      <a16:colId xmlns:a16="http://schemas.microsoft.com/office/drawing/2014/main" val="3143787037"/>
                    </a:ext>
                  </a:extLst>
                </a:gridCol>
                <a:gridCol w="2247627">
                  <a:extLst>
                    <a:ext uri="{9D8B030D-6E8A-4147-A177-3AD203B41FA5}">
                      <a16:colId xmlns:a16="http://schemas.microsoft.com/office/drawing/2014/main" val="2739040137"/>
                    </a:ext>
                  </a:extLst>
                </a:gridCol>
              </a:tblGrid>
              <a:tr h="3168961">
                <a:tc>
                  <a:txBody>
                    <a:bodyPr/>
                    <a:lstStyle/>
                    <a:p>
                      <a:pPr algn="ctr"/>
                      <a:r>
                        <a:rPr lang="fr-FR" sz="1400" b="1" i="0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Dimensions des </a:t>
                      </a:r>
                      <a:r>
                        <a:rPr lang="fr-FR" sz="1400" b="1" i="0" kern="12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Dataframes</a:t>
                      </a:r>
                      <a:endParaRPr lang="fr-FR" sz="1400" b="1" i="0" kern="1200" dirty="0">
                        <a:solidFill>
                          <a:schemeClr val="accent3">
                            <a:lumMod val="75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fr-FR" sz="1400" b="1" i="0" kern="1200" dirty="0">
                        <a:solidFill>
                          <a:srgbClr val="40404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Uniformisation des tableaux par nombre de pays et d’indicateurs.</a:t>
                      </a:r>
                    </a:p>
                    <a:p>
                      <a:pPr algn="ctr"/>
                      <a:endParaRPr lang="fr-FR" sz="1400" b="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Les </a:t>
                      </a:r>
                      <a:r>
                        <a:rPr lang="fr-FR" sz="1400" b="0" dirty="0" err="1">
                          <a:solidFill>
                            <a:srgbClr val="404040"/>
                          </a:solidFill>
                          <a:latin typeface="+mj-lt"/>
                        </a:rPr>
                        <a:t>Dataframes</a:t>
                      </a:r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 par années doivent contenir 14 colonnes et 237 pays.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lt"/>
                        </a:rPr>
                        <a:t>Ajout des valeurs manquantes</a:t>
                      </a:r>
                    </a:p>
                    <a:p>
                      <a:pPr algn="ctr"/>
                      <a:endParaRPr lang="fr-FR" sz="140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Estimation des valeurs manquantes par régression linéaire en fonction des valeurs des années disponibles pour chaque pays</a:t>
                      </a:r>
                    </a:p>
                    <a:p>
                      <a:pPr algn="ctr"/>
                      <a:endParaRPr lang="fr-FR" sz="1400" b="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Modèle naïf si une seule valeur disponible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lt"/>
                        </a:rPr>
                        <a:t>Vérification des doublons</a:t>
                      </a:r>
                    </a:p>
                    <a:p>
                      <a:pPr algn="ctr"/>
                      <a:endParaRPr lang="fr-FR" sz="140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Les </a:t>
                      </a:r>
                      <a:r>
                        <a:rPr lang="fr-FR" sz="1400" b="0" dirty="0" err="1">
                          <a:solidFill>
                            <a:srgbClr val="404040"/>
                          </a:solidFill>
                          <a:latin typeface="+mj-lt"/>
                        </a:rPr>
                        <a:t>Dataframes</a:t>
                      </a:r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 ne doivent contenir aucun doublon pour ne pas perturber les analyses.</a:t>
                      </a:r>
                    </a:p>
                    <a:p>
                      <a:pPr algn="ctr"/>
                      <a:endParaRPr lang="fr-FR" sz="1400" b="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Le jeu de données de la Banque Mondiale ne contient aucun doublon.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lt"/>
                        </a:rPr>
                        <a:t>Vérification des types de données</a:t>
                      </a:r>
                    </a:p>
                    <a:p>
                      <a:pPr algn="ctr"/>
                      <a:endParaRPr lang="fr-FR" sz="140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Afin de pouvoir les utiliser postérieurement, les données des colonnes devront être numériques.</a:t>
                      </a:r>
                    </a:p>
                    <a:p>
                      <a:pPr algn="ctr"/>
                      <a:endParaRPr lang="fr-FR" sz="1400" b="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Toutes les colonnes contiennent bien des flottants.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+mj-lt"/>
                        </a:rPr>
                        <a:t>Traitement des valeurs aberrantes</a:t>
                      </a:r>
                    </a:p>
                    <a:p>
                      <a:pPr algn="ctr"/>
                      <a:endParaRPr lang="fr-FR" sz="140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Les estimations par régression linéaire ont pu donner des valeurs aberrantes (pourcentages négatifs ou &gt;100)</a:t>
                      </a:r>
                    </a:p>
                    <a:p>
                      <a:pPr algn="ctr"/>
                      <a:endParaRPr lang="fr-FR" sz="1400" b="0" dirty="0">
                        <a:solidFill>
                          <a:srgbClr val="4040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fr-FR" sz="1400" b="0" dirty="0">
                          <a:solidFill>
                            <a:srgbClr val="404040"/>
                          </a:solidFill>
                          <a:latin typeface="+mj-lt"/>
                        </a:rPr>
                        <a:t>Des bornes ont donc été créées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75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618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FFDF3A85-D264-B79C-4E72-2501D7105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108B5661-A282-A07E-F70A-623457FB1261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0A75CF1-E974-FE5B-91B6-6F10EB0A3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ACC3E421-7B56-4B77-8AFB-D9D8A99B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66" y="884952"/>
            <a:ext cx="9202434" cy="27531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81F232A-CD48-8B38-B994-2F290D671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018" y="3856752"/>
            <a:ext cx="9183382" cy="275310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EB50AB6-8680-9219-A484-2E9221C2880E}"/>
              </a:ext>
            </a:extLst>
          </p:cNvPr>
          <p:cNvSpPr txBox="1"/>
          <p:nvPr/>
        </p:nvSpPr>
        <p:spPr>
          <a:xfrm>
            <a:off x="461281" y="1406272"/>
            <a:ext cx="2034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404040"/>
                </a:solidFill>
                <a:latin typeface="+mj-lt"/>
              </a:rPr>
              <a:t>Modèle d’estimation par régression linéaire : L’exemple de l’Albanie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50F72FF-16F9-BF28-A2CC-67A500D4D95D}"/>
              </a:ext>
            </a:extLst>
          </p:cNvPr>
          <p:cNvSpPr txBox="1"/>
          <p:nvPr/>
        </p:nvSpPr>
        <p:spPr>
          <a:xfrm>
            <a:off x="424543" y="3268729"/>
            <a:ext cx="210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Avant estimation 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C1B3605-300E-4255-C553-42E82A0BB0BA}"/>
              </a:ext>
            </a:extLst>
          </p:cNvPr>
          <p:cNvSpPr txBox="1"/>
          <p:nvPr/>
        </p:nvSpPr>
        <p:spPr>
          <a:xfrm>
            <a:off x="424543" y="3908947"/>
            <a:ext cx="210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Après estimation :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75D628-9BBF-14A2-9283-5874573E44EC}"/>
              </a:ext>
            </a:extLst>
          </p:cNvPr>
          <p:cNvSpPr/>
          <p:nvPr/>
        </p:nvSpPr>
        <p:spPr>
          <a:xfrm>
            <a:off x="1469575" y="3666508"/>
            <a:ext cx="114300" cy="242439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314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3446B95-6240-39EB-F010-3D2809E36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E10181BE-726C-3750-AFF7-171896C15DA7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Nettoyage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5E481BB-D0DB-4CAC-CABB-D0A8154B9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EF86B42-B7BC-197A-2972-0909F490515C}"/>
              </a:ext>
            </a:extLst>
          </p:cNvPr>
          <p:cNvSpPr txBox="1"/>
          <p:nvPr/>
        </p:nvSpPr>
        <p:spPr>
          <a:xfrm>
            <a:off x="1200150" y="2245000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Suppression des lignes non pertinentes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Exclusion des entités non reconnues par l’ONU (ex : régions, économies globales). Résultat : 184 pays valides sur 237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61442A0-F788-6043-0C7D-DC28DA5E9DA1}"/>
              </a:ext>
            </a:extLst>
          </p:cNvPr>
          <p:cNvSpPr txBox="1"/>
          <p:nvPr/>
        </p:nvSpPr>
        <p:spPr>
          <a:xfrm>
            <a:off x="6585859" y="2245000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Utilisation des sets pour le filtrage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Les ensembles facilitent la rapidité et la puissance des comparaisons, permettant une exclusion précise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3DAB125-C8EB-94DA-63EB-7CD7910BC737}"/>
              </a:ext>
            </a:extLst>
          </p:cNvPr>
          <p:cNvSpPr txBox="1"/>
          <p:nvPr/>
        </p:nvSpPr>
        <p:spPr>
          <a:xfrm>
            <a:off x="1200149" y="4602007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Attribution des zones géographiques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Ajout d’une colonne « Région » associant chaque pays à zone (ex : ‘Europe’, ‘Asie Centrale’, etc.)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001FF90-701B-BCB3-6EF2-FD6AF317D936}"/>
              </a:ext>
            </a:extLst>
          </p:cNvPr>
          <p:cNvSpPr txBox="1"/>
          <p:nvPr/>
        </p:nvSpPr>
        <p:spPr>
          <a:xfrm>
            <a:off x="6585858" y="4602006"/>
            <a:ext cx="4405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Objectif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Permettre des analyses ciblées par région pour guider la stratégie d’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Academy</a:t>
            </a:r>
            <a:endParaRPr lang="fr-FR" sz="1600" dirty="0">
              <a:solidFill>
                <a:srgbClr val="404040"/>
              </a:solidFill>
              <a:latin typeface="+mj-lt"/>
            </a:endParaRPr>
          </a:p>
        </p:txBody>
      </p:sp>
      <p:pic>
        <p:nvPicPr>
          <p:cNvPr id="14" name="Graphique 13" descr="Mathématiques avec un remplissage uni">
            <a:extLst>
              <a:ext uri="{FF2B5EF4-FFF2-40B4-BE49-F238E27FC236}">
                <a16:creationId xmlns:a16="http://schemas.microsoft.com/office/drawing/2014/main" id="{4AD59AA4-70B8-F42A-A006-9C211AFEB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055" y="1531055"/>
            <a:ext cx="775597" cy="775597"/>
          </a:xfrm>
          <a:prstGeom prst="rect">
            <a:avLst/>
          </a:prstGeom>
        </p:spPr>
      </p:pic>
      <p:pic>
        <p:nvPicPr>
          <p:cNvPr id="16" name="Graphique 15" descr="Mille avec un remplissage uni">
            <a:extLst>
              <a:ext uri="{FF2B5EF4-FFF2-40B4-BE49-F238E27FC236}">
                <a16:creationId xmlns:a16="http://schemas.microsoft.com/office/drawing/2014/main" id="{24BB8BE1-6A3B-44E3-54BD-421E09A10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055" y="3826409"/>
            <a:ext cx="775597" cy="775597"/>
          </a:xfrm>
          <a:prstGeom prst="rect">
            <a:avLst/>
          </a:prstGeom>
        </p:spPr>
      </p:pic>
      <p:pic>
        <p:nvPicPr>
          <p:cNvPr id="18" name="Graphique 17" descr="Globe terrestre : Europe et Afrique avec un remplissage uni">
            <a:extLst>
              <a:ext uri="{FF2B5EF4-FFF2-40B4-BE49-F238E27FC236}">
                <a16:creationId xmlns:a16="http://schemas.microsoft.com/office/drawing/2014/main" id="{5F891CCE-E0A5-4D13-813D-CA86C3222B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5346" y="3826409"/>
            <a:ext cx="775597" cy="775597"/>
          </a:xfrm>
          <a:prstGeom prst="rect">
            <a:avLst/>
          </a:prstGeom>
        </p:spPr>
      </p:pic>
      <p:pic>
        <p:nvPicPr>
          <p:cNvPr id="20" name="Graphique 19" descr="Gros pinceau avec un remplissage uni">
            <a:extLst>
              <a:ext uri="{FF2B5EF4-FFF2-40B4-BE49-F238E27FC236}">
                <a16:creationId xmlns:a16="http://schemas.microsoft.com/office/drawing/2014/main" id="{D870F982-AB23-7C13-C792-C1ED544E50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15349" y="1469403"/>
            <a:ext cx="775597" cy="77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38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549904C3-2CFC-CCB1-E106-8616CFC4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F2D38192-D1C0-3B1E-97B3-2148615310A4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34E7351-696C-4C08-17BE-B92FC229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rganigramme : Alternative 4">
            <a:extLst>
              <a:ext uri="{FF2B5EF4-FFF2-40B4-BE49-F238E27FC236}">
                <a16:creationId xmlns:a16="http://schemas.microsoft.com/office/drawing/2014/main" id="{BD8E0957-ABA2-ABFB-45AE-9509CA1CAB9B}"/>
              </a:ext>
            </a:extLst>
          </p:cNvPr>
          <p:cNvSpPr/>
          <p:nvPr/>
        </p:nvSpPr>
        <p:spPr>
          <a:xfrm>
            <a:off x="1306285" y="1707165"/>
            <a:ext cx="4699907" cy="2342775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Dépenses dans l’éducation (% du PIB)</a:t>
            </a:r>
          </a:p>
          <a:p>
            <a:pPr algn="ctr"/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Moyenne :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4.7%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Priorité : Pays avec des investissements élevés, engagement fort dans l’éducation</a:t>
            </a:r>
          </a:p>
        </p:txBody>
      </p:sp>
      <p:sp>
        <p:nvSpPr>
          <p:cNvPr id="8" name="Organigramme : Alternative 7">
            <a:extLst>
              <a:ext uri="{FF2B5EF4-FFF2-40B4-BE49-F238E27FC236}">
                <a16:creationId xmlns:a16="http://schemas.microsoft.com/office/drawing/2014/main" id="{CF7253BA-8D10-4F36-ADDC-72103FD81106}"/>
              </a:ext>
            </a:extLst>
          </p:cNvPr>
          <p:cNvSpPr/>
          <p:nvPr/>
        </p:nvSpPr>
        <p:spPr>
          <a:xfrm>
            <a:off x="6185808" y="1707165"/>
            <a:ext cx="4699907" cy="2342775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RNB (PPA, en milliards de $)</a:t>
            </a:r>
          </a:p>
          <a:p>
            <a:pPr algn="ctr"/>
            <a:endParaRPr lang="fr-FR" sz="1600" b="1" dirty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fr-FR" sz="1600" dirty="0">
                <a:solidFill>
                  <a:schemeClr val="bg1"/>
                </a:solidFill>
                <a:latin typeface="+mj-lt"/>
              </a:rPr>
              <a:t>Moyenne : </a:t>
            </a:r>
            <a:r>
              <a:rPr lang="fr-FR" sz="1600" b="1" dirty="0">
                <a:solidFill>
                  <a:schemeClr val="bg1"/>
                </a:solidFill>
                <a:latin typeface="+mj-lt"/>
              </a:rPr>
              <a:t>581Mds $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  <a:latin typeface="+mj-lt"/>
              </a:rPr>
              <a:t>Priorité : pays avec un Revenu National Brut avec Parité du Pouvoir d’Achat élevé</a:t>
            </a:r>
          </a:p>
        </p:txBody>
      </p:sp>
      <p:sp>
        <p:nvSpPr>
          <p:cNvPr id="9" name="Organigramme : Alternative 8">
            <a:extLst>
              <a:ext uri="{FF2B5EF4-FFF2-40B4-BE49-F238E27FC236}">
                <a16:creationId xmlns:a16="http://schemas.microsoft.com/office/drawing/2014/main" id="{E382FDEE-5D56-6D66-F894-A10789EBE4FC}"/>
              </a:ext>
            </a:extLst>
          </p:cNvPr>
          <p:cNvSpPr/>
          <p:nvPr/>
        </p:nvSpPr>
        <p:spPr>
          <a:xfrm>
            <a:off x="1306284" y="4237253"/>
            <a:ext cx="4699907" cy="2342775"/>
          </a:xfrm>
          <a:prstGeom prst="flowChartAlternate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+mj-lt"/>
              </a:rPr>
              <a:t>Ratio brut d’inscription (%)</a:t>
            </a:r>
          </a:p>
          <a:p>
            <a:pPr algn="ctr"/>
            <a:endParaRPr lang="fr-FR" sz="1600" b="1" dirty="0">
              <a:latin typeface="+mj-lt"/>
            </a:endParaRPr>
          </a:p>
          <a:p>
            <a:pPr algn="ctr"/>
            <a:r>
              <a:rPr lang="fr-FR" sz="1600" dirty="0">
                <a:latin typeface="+mj-lt"/>
              </a:rPr>
              <a:t>Secondaire : </a:t>
            </a:r>
            <a:r>
              <a:rPr lang="fr-FR" sz="1600" b="1" dirty="0">
                <a:latin typeface="+mj-lt"/>
              </a:rPr>
              <a:t>68.6%</a:t>
            </a:r>
          </a:p>
          <a:p>
            <a:pPr algn="ctr"/>
            <a:r>
              <a:rPr lang="fr-FR" sz="1600" dirty="0">
                <a:latin typeface="+mj-lt"/>
              </a:rPr>
              <a:t>Supérieur : </a:t>
            </a:r>
            <a:r>
              <a:rPr lang="fr-FR" sz="1600" b="1" dirty="0">
                <a:latin typeface="+mj-lt"/>
              </a:rPr>
              <a:t>36.6%</a:t>
            </a:r>
          </a:p>
          <a:p>
            <a:pPr algn="ctr"/>
            <a:r>
              <a:rPr lang="fr-FR" sz="1600" dirty="0">
                <a:latin typeface="+mj-lt"/>
              </a:rPr>
              <a:t>Priorité  : Taux d’inscription élevés</a:t>
            </a:r>
          </a:p>
        </p:txBody>
      </p:sp>
      <p:sp>
        <p:nvSpPr>
          <p:cNvPr id="10" name="Organigramme : Alternative 9">
            <a:extLst>
              <a:ext uri="{FF2B5EF4-FFF2-40B4-BE49-F238E27FC236}">
                <a16:creationId xmlns:a16="http://schemas.microsoft.com/office/drawing/2014/main" id="{70562C11-2B7A-B6E8-1502-456D518E0274}"/>
              </a:ext>
            </a:extLst>
          </p:cNvPr>
          <p:cNvSpPr/>
          <p:nvPr/>
        </p:nvSpPr>
        <p:spPr>
          <a:xfrm>
            <a:off x="6185807" y="4237252"/>
            <a:ext cx="4699907" cy="2342775"/>
          </a:xfrm>
          <a:prstGeom prst="flowChartAlternateProcess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+mj-lt"/>
              </a:rPr>
              <a:t>Utilisateurs d’internet (pour 100 pers.)</a:t>
            </a:r>
          </a:p>
          <a:p>
            <a:pPr algn="ctr"/>
            <a:endParaRPr lang="fr-FR" sz="1600" b="1" dirty="0">
              <a:latin typeface="+mj-lt"/>
            </a:endParaRPr>
          </a:p>
          <a:p>
            <a:pPr algn="ctr"/>
            <a:r>
              <a:rPr lang="fr-FR" sz="1600" dirty="0">
                <a:latin typeface="+mj-lt"/>
              </a:rPr>
              <a:t>Médiane : </a:t>
            </a:r>
            <a:r>
              <a:rPr lang="fr-FR" sz="1600" b="1" dirty="0">
                <a:latin typeface="+mj-lt"/>
              </a:rPr>
              <a:t>38%</a:t>
            </a:r>
          </a:p>
          <a:p>
            <a:pPr algn="ctr"/>
            <a:r>
              <a:rPr lang="fr-FR" sz="1600" dirty="0">
                <a:latin typeface="+mj-lt"/>
              </a:rPr>
              <a:t>Priorité : Pays avec une pénétration internet supérieure à la médiane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909C61B-CBAA-140F-661F-26594FE300EA}"/>
              </a:ext>
            </a:extLst>
          </p:cNvPr>
          <p:cNvSpPr txBox="1"/>
          <p:nvPr/>
        </p:nvSpPr>
        <p:spPr>
          <a:xfrm>
            <a:off x="1306284" y="1004207"/>
            <a:ext cx="957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Statistiques Descriptives des Indicateurs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Résumé des Interprétations Clés</a:t>
            </a:r>
            <a:endParaRPr lang="fr-FR" b="1" dirty="0">
              <a:solidFill>
                <a:srgbClr val="40404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2560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7B9B918-2F26-DC9E-898C-5ABE8259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2C3227D0-2DC4-E735-9D68-0772D93D2613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C03E064-1A6E-E535-4769-EC097FE3C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3DEA722-37C8-D49D-4B31-176B1788F977}"/>
              </a:ext>
            </a:extLst>
          </p:cNvPr>
          <p:cNvSpPr txBox="1"/>
          <p:nvPr/>
        </p:nvSpPr>
        <p:spPr>
          <a:xfrm>
            <a:off x="1306284" y="1004207"/>
            <a:ext cx="957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Représentations visuelles univariées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Histogrammes Clés</a:t>
            </a:r>
            <a:endParaRPr lang="fr-FR" b="1" dirty="0">
              <a:solidFill>
                <a:srgbClr val="404040"/>
              </a:solidFill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F85CA5-1B83-CA40-6B1E-7538262A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4" y="1752366"/>
            <a:ext cx="9579430" cy="376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3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6946-F1D0-30A7-EA0E-765C837D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EB69BA0B-05B0-C6CE-5550-F41471C3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DFFD1992-E12B-4A7E-E743-1121236F8587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96F5E5B-714E-A341-5BA0-D83CCBB2A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97175F2B-1473-805E-5438-3E6A5332D199}"/>
              </a:ext>
            </a:extLst>
          </p:cNvPr>
          <p:cNvSpPr txBox="1"/>
          <p:nvPr/>
        </p:nvSpPr>
        <p:spPr>
          <a:xfrm>
            <a:off x="1306284" y="1004207"/>
            <a:ext cx="957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Représentations visuelles univariées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Histogrammes Clés</a:t>
            </a:r>
            <a:endParaRPr lang="fr-FR" b="1" dirty="0">
              <a:solidFill>
                <a:srgbClr val="404040"/>
              </a:solidFill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7A1002C-3FCD-4668-D378-07527F3BF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3" y="1752366"/>
            <a:ext cx="9579429" cy="378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39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DDAFDC5-3A02-8994-D20F-38C666E32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91D21A50-5ABD-50E5-8E3F-0AE4C2DCCDEE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EE852CA-32D5-2C7C-FA3D-99AD2F54C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98070B9E-406A-7CEC-C8E9-3104190C5C75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Représentations visuelles univariées : </a:t>
            </a:r>
            <a:r>
              <a:rPr lang="fr-FR" i="0" dirty="0">
                <a:solidFill>
                  <a:srgbClr val="404040"/>
                </a:solidFill>
                <a:effectLst/>
                <a:latin typeface="+mj-lt"/>
              </a:rPr>
              <a:t>Taux d'inscription dans l'enseignement secondaire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6FA295-89FB-20BE-970C-F1E1337F1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95" y="1492054"/>
            <a:ext cx="7770280" cy="518305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5455DF3-580F-4A9E-8E4E-D76A25458807}"/>
              </a:ext>
            </a:extLst>
          </p:cNvPr>
          <p:cNvSpPr txBox="1"/>
          <p:nvPr/>
        </p:nvSpPr>
        <p:spPr>
          <a:xfrm>
            <a:off x="8196943" y="1649186"/>
            <a:ext cx="384537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404040"/>
                </a:solidFill>
                <a:effectLst/>
                <a:latin typeface="+mj-lt"/>
              </a:rPr>
              <a:t>Focus sur les régions émergentes :</a:t>
            </a:r>
          </a:p>
          <a:p>
            <a:pPr algn="l"/>
            <a:r>
              <a:rPr lang="fr-FR" sz="1600" b="0" i="0" dirty="0">
                <a:solidFill>
                  <a:srgbClr val="404040"/>
                </a:solidFill>
                <a:effectLst/>
                <a:latin typeface="+mj-lt"/>
              </a:rPr>
              <a:t>L’Amérique Latine et le Moyen Orient montrent des taux d'inscription croissants avec des inégalités internes. Ces pays pourraient bénéficier de plateformes d'apprentissage numériques adaptées.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600" b="1" i="0" dirty="0">
              <a:solidFill>
                <a:srgbClr val="404040"/>
              </a:solidFill>
              <a:effectLst/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404040"/>
                </a:solidFill>
                <a:effectLst/>
                <a:latin typeface="+mj-lt"/>
              </a:rPr>
              <a:t>Offres spécialisées pour les marchés matures :</a:t>
            </a:r>
          </a:p>
          <a:p>
            <a:pPr algn="l"/>
            <a:r>
              <a:rPr lang="fr-FR" sz="1600" b="0" i="0" dirty="0">
                <a:solidFill>
                  <a:srgbClr val="404040"/>
                </a:solidFill>
                <a:effectLst/>
                <a:latin typeface="+mj-lt"/>
              </a:rPr>
              <a:t>Proposer des contenus éducatifs innovants ou avancés pour les marchés saturés comme l’Europe et l’Amérique du Nord</a:t>
            </a:r>
          </a:p>
        </p:txBody>
      </p:sp>
    </p:spTree>
    <p:extLst>
      <p:ext uri="{BB962C8B-B14F-4D97-AF65-F5344CB8AC3E}">
        <p14:creationId xmlns:p14="http://schemas.microsoft.com/office/powerpoint/2010/main" val="54694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F7F50F7-740B-388E-F2F0-E54B62606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F1264FE3-AD94-0E69-1E85-E8BE9130965B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53574E9-7BA7-4F77-36A6-A76A2C23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3D38FBD9-CBB0-30F6-4A2E-EEC2A24F8134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Représentations visuelles univariées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Utilisateurs d’Internet (pour 100 pers.)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1F1D7A2-CE90-21F0-D2FB-1CDED9FC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588" y="1592946"/>
            <a:ext cx="7770280" cy="520017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D434391-7440-8477-EA2A-9C2A2FE8C078}"/>
              </a:ext>
            </a:extLst>
          </p:cNvPr>
          <p:cNvSpPr txBox="1"/>
          <p:nvPr/>
        </p:nvSpPr>
        <p:spPr>
          <a:xfrm>
            <a:off x="228600" y="1779804"/>
            <a:ext cx="36439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404040"/>
                </a:solidFill>
                <a:effectLst/>
                <a:latin typeface="+mj-lt"/>
              </a:rPr>
              <a:t>Focus sur les marchés matures :</a:t>
            </a:r>
          </a:p>
          <a:p>
            <a:pPr algn="l"/>
            <a:r>
              <a:rPr lang="fr-FR" sz="1600" i="0" dirty="0">
                <a:solidFill>
                  <a:srgbClr val="404040"/>
                </a:solidFill>
                <a:effectLst/>
                <a:latin typeface="+mj-lt"/>
              </a:rPr>
              <a:t>L'Europe, l'Amérique du Nord, et le Moyen-Orient offrent des opportunités pour des produits éducatifs avancés et interactifs, capitalisant sur leur forte connectivité.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fr-FR" sz="1600" i="0" dirty="0">
              <a:solidFill>
                <a:srgbClr val="404040"/>
              </a:solidFill>
              <a:effectLst/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404040"/>
                </a:solidFill>
                <a:effectLst/>
                <a:latin typeface="+mj-lt"/>
              </a:rPr>
              <a:t>Cibler les régions en transition :</a:t>
            </a:r>
          </a:p>
          <a:p>
            <a:pPr algn="l"/>
            <a:r>
              <a:rPr lang="fr-FR" sz="1600" i="0" dirty="0">
                <a:solidFill>
                  <a:srgbClr val="404040"/>
                </a:solidFill>
                <a:effectLst/>
                <a:latin typeface="+mj-lt"/>
              </a:rPr>
              <a:t>Adapter les solutions pour l'Asie de l'Est, l'Amérique Latine &amp; Caraïbes, et L'Asie de l'Ouest, où la connectivité progresse mais reste inégale entre les pays.</a:t>
            </a:r>
          </a:p>
        </p:txBody>
      </p:sp>
    </p:spTree>
    <p:extLst>
      <p:ext uri="{BB962C8B-B14F-4D97-AF65-F5344CB8AC3E}">
        <p14:creationId xmlns:p14="http://schemas.microsoft.com/office/powerpoint/2010/main" val="1873195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0D14134C-1CBB-D088-0E5A-49ACA8348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A1132E27-42DC-8AFB-4ACD-AE76D44C8363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787681-5B74-17C9-6A0C-B281C2DD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96FE8307-C611-96C2-E6C9-A6051073C5D2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Sélection des Régions Prioritaires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1026" name="Picture 2" descr="europe Icon - Free PNG &amp; SVG 19032 - Noun Project">
            <a:extLst>
              <a:ext uri="{FF2B5EF4-FFF2-40B4-BE49-F238E27FC236}">
                <a16:creationId xmlns:a16="http://schemas.microsoft.com/office/drawing/2014/main" id="{F4811AA8-BF78-3619-C6E4-7F5FC687B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933" y="1407658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Middle-East Icons - Free SVG &amp; PNG Middle-East Images - Noun Project">
            <a:extLst>
              <a:ext uri="{FF2B5EF4-FFF2-40B4-BE49-F238E27FC236}">
                <a16:creationId xmlns:a16="http://schemas.microsoft.com/office/drawing/2014/main" id="{9721CB9D-0B9A-D819-BBE9-24294860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066" y="1407658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111,200+ Map Of Latin America Stock Photos, Pictures &amp; Royalty-Free Images  - iStock | Latin american map, Mexico city, Mexico">
            <a:extLst>
              <a:ext uri="{FF2B5EF4-FFF2-40B4-BE49-F238E27FC236}">
                <a16:creationId xmlns:a16="http://schemas.microsoft.com/office/drawing/2014/main" id="{59C2B99A-3A74-C8C9-D4C9-EA5BCF51E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558" y="1289957"/>
            <a:ext cx="1496883" cy="214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300317B-DE93-6884-A7E4-0C26D73B5E7F}"/>
              </a:ext>
            </a:extLst>
          </p:cNvPr>
          <p:cNvSpPr txBox="1"/>
          <p:nvPr/>
        </p:nvSpPr>
        <p:spPr>
          <a:xfrm>
            <a:off x="4086226" y="3371509"/>
            <a:ext cx="38969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Amérique Latine et Caraïbes :</a:t>
            </a:r>
          </a:p>
          <a:p>
            <a:endParaRPr lang="fr-FR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Taux d’inscriptions modéré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Adoption d’internet en progression (</a:t>
            </a:r>
            <a:r>
              <a:rPr lang="fr-FR" sz="1600" b="1" dirty="0">
                <a:latin typeface="+mj-lt"/>
              </a:rPr>
              <a:t>~40%</a:t>
            </a:r>
            <a:r>
              <a:rPr lang="fr-FR" sz="1600" dirty="0">
                <a:latin typeface="+mj-lt"/>
              </a:rPr>
              <a:t>)</a:t>
            </a:r>
            <a:endParaRPr lang="fr-FR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Dépenses éducatives similaires à l’Europe (</a:t>
            </a:r>
            <a:r>
              <a:rPr lang="fr-FR" sz="1600" b="1" dirty="0">
                <a:latin typeface="+mj-lt"/>
              </a:rPr>
              <a:t>~5% du PIB</a:t>
            </a:r>
            <a:r>
              <a:rPr lang="fr-FR" sz="1600" dirty="0">
                <a:latin typeface="+mj-lt"/>
              </a:rPr>
              <a:t>)</a:t>
            </a:r>
          </a:p>
          <a:p>
            <a:r>
              <a:rPr lang="fr-FR" sz="1600" dirty="0">
                <a:latin typeface="+mj-lt"/>
              </a:rPr>
              <a:t>→ Opportunité pour des solutions numériques abordables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0B2BA90-3BCE-0CFA-0CFE-3D8837B3FF23}"/>
              </a:ext>
            </a:extLst>
          </p:cNvPr>
          <p:cNvSpPr txBox="1"/>
          <p:nvPr/>
        </p:nvSpPr>
        <p:spPr>
          <a:xfrm>
            <a:off x="538229" y="3371509"/>
            <a:ext cx="37744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Europe : </a:t>
            </a:r>
          </a:p>
          <a:p>
            <a:endParaRPr lang="fr-FR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Taux d’inscriptions élevés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Adoption d’Internet (</a:t>
            </a:r>
            <a:r>
              <a:rPr lang="fr-FR" sz="1600" b="1" dirty="0">
                <a:latin typeface="+mj-lt"/>
              </a:rPr>
              <a:t>~75%</a:t>
            </a:r>
            <a:r>
              <a:rPr lang="fr-FR" sz="1600" dirty="0">
                <a:latin typeface="+mj-lt"/>
              </a:rPr>
              <a:t>)</a:t>
            </a:r>
            <a:endParaRPr lang="fr-FR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Dépenses éducatives significatives (</a:t>
            </a:r>
            <a:r>
              <a:rPr lang="fr-FR" sz="1600" b="1" dirty="0">
                <a:latin typeface="+mj-lt"/>
              </a:rPr>
              <a:t>~5% du PIB</a:t>
            </a:r>
            <a:r>
              <a:rPr lang="fr-FR" sz="1600" dirty="0">
                <a:latin typeface="+mj-lt"/>
              </a:rPr>
              <a:t>)</a:t>
            </a:r>
          </a:p>
          <a:p>
            <a:endParaRPr lang="fr-FR" sz="1600" dirty="0">
              <a:latin typeface="+mj-lt"/>
            </a:endParaRPr>
          </a:p>
          <a:p>
            <a:r>
              <a:rPr lang="fr-FR" sz="1600" dirty="0">
                <a:latin typeface="+mj-lt"/>
              </a:rPr>
              <a:t>→ Marché mature pour des solutions haut de gamme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AA03B6E-FE03-EC2E-B60A-0E2065E44216}"/>
              </a:ext>
            </a:extLst>
          </p:cNvPr>
          <p:cNvSpPr txBox="1"/>
          <p:nvPr/>
        </p:nvSpPr>
        <p:spPr>
          <a:xfrm>
            <a:off x="7879362" y="3371509"/>
            <a:ext cx="37744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Moyen Orient :</a:t>
            </a:r>
          </a:p>
          <a:p>
            <a:pPr algn="ctr"/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Taux d’inscription variés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Adoption d’internet croissante (</a:t>
            </a:r>
            <a:r>
              <a:rPr lang="fr-FR" sz="1600" b="1" dirty="0">
                <a:latin typeface="+mj-lt"/>
              </a:rPr>
              <a:t>~65%</a:t>
            </a:r>
            <a:r>
              <a:rPr lang="fr-FR" sz="1600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+mj-lt"/>
              </a:rPr>
              <a:t>Dépenses éducatives modérées (</a:t>
            </a:r>
            <a:r>
              <a:rPr lang="fr-FR" sz="1600" b="1" dirty="0">
                <a:latin typeface="+mj-lt"/>
              </a:rPr>
              <a:t>~4% du PIB</a:t>
            </a:r>
            <a:r>
              <a:rPr lang="fr-FR" sz="1600" dirty="0">
                <a:latin typeface="+mj-lt"/>
              </a:rPr>
              <a:t>)</a:t>
            </a:r>
          </a:p>
          <a:p>
            <a:r>
              <a:rPr lang="fr-FR" sz="1600" dirty="0">
                <a:latin typeface="+mj-lt"/>
              </a:rPr>
              <a:t>→ Marché émergent avec une stabilité régionale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BB78FD-08BF-3259-1166-85A3C7B96AC5}"/>
              </a:ext>
            </a:extLst>
          </p:cNvPr>
          <p:cNvSpPr txBox="1"/>
          <p:nvPr/>
        </p:nvSpPr>
        <p:spPr>
          <a:xfrm>
            <a:off x="228600" y="5975685"/>
            <a:ext cx="11425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Autres régions : </a:t>
            </a:r>
            <a:r>
              <a:rPr lang="fr-FR" sz="1600" dirty="0">
                <a:latin typeface="+mj-lt"/>
              </a:rPr>
              <a:t>Amérique du Nord saturée, Afrique Subsaharienne limitée par la connectivité (</a:t>
            </a:r>
            <a:r>
              <a:rPr lang="fr-FR" sz="1600" b="1" dirty="0">
                <a:latin typeface="+mj-lt"/>
              </a:rPr>
              <a:t>~10%</a:t>
            </a:r>
            <a:r>
              <a:rPr lang="fr-FR" sz="1600" dirty="0">
                <a:latin typeface="+mj-lt"/>
              </a:rPr>
              <a:t>), Asie marquée par les disparités internes.</a:t>
            </a:r>
            <a:endParaRPr lang="fr-FR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767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40E05A8-3F35-C314-3170-C1D62FF86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290F8332-234A-CF1B-529D-539BAD37EEBC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662ACCE-DA89-5A1C-EC35-7CB9CEB3F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BCC175AF-8CA1-9775-E8CC-86ADA0D0494B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Corrélation entre indicateurs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Matrice de corrélation entre indicateurs clés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09E451-9253-AED4-57BB-3ABAE442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73539"/>
            <a:ext cx="9586762" cy="526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80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B6CE645-B052-4F5A-8169-59C8A4078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56BE9EF6-045C-EA71-887A-DD1949FB8884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6B76939-E1C2-B332-CF6C-485324F78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97B8A51A-69D4-7053-203F-959719E0FCA0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Représentations visuelles bivariées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Corrélation entre deux indicateurs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B203E8-8C13-8CAE-D05B-2051A2485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68" y="1592946"/>
            <a:ext cx="7563906" cy="516327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80D2B82-4230-0163-3255-521AEBC84C81}"/>
              </a:ext>
            </a:extLst>
          </p:cNvPr>
          <p:cNvSpPr txBox="1"/>
          <p:nvPr/>
        </p:nvSpPr>
        <p:spPr>
          <a:xfrm>
            <a:off x="7878870" y="1592946"/>
            <a:ext cx="431312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Relation positive modérée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La pente de la droite de régression indique qu’une augmentation de l’accès à Internet tend à accroitre l’enseignement tertiaire.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Dispersion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Les points montrent une variabilité autour de la droite, reflétant l’influence d’autres facteurs sur le taux d’inscription.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Zone d’incertitude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Les intervalles de confiance (zone rouge) sont plus larges aux extrémités, indiquant une incertitude accrue.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Implications pour </a:t>
            </a:r>
            <a:r>
              <a:rPr lang="fr-FR" sz="1600" b="1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b="1" dirty="0">
                <a:solidFill>
                  <a:srgbClr val="404040"/>
                </a:solidFill>
                <a:latin typeface="+mj-lt"/>
              </a:rPr>
              <a:t>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Investir dans des régions avec une connectivité Internet en développement pourrait également stimuler l’éducation supérieure .</a:t>
            </a:r>
            <a:endParaRPr lang="fr-FR" sz="1600" b="1" dirty="0">
              <a:solidFill>
                <a:srgbClr val="40404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5866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75EBE8A7-DACE-CDFB-947F-662E2475A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404AEE00-C362-E530-42D2-07E7A7AB1D1C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EC21FF8-E51A-7459-0463-E8833A72D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EC9029C2-AE72-E994-15C8-FA81B8E38DB3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404040"/>
                </a:solidFill>
                <a:latin typeface="+mj-lt"/>
              </a:rPr>
              <a:t>Représentations visuelles bivariées : </a:t>
            </a:r>
            <a:r>
              <a:rPr lang="fr-FR" sz="1800" dirty="0">
                <a:solidFill>
                  <a:srgbClr val="404040"/>
                </a:solidFill>
                <a:latin typeface="+mj-lt"/>
              </a:rPr>
              <a:t>indicateurs clés par pays pour la régio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n Europe</a:t>
            </a:r>
            <a:endParaRPr lang="fr-FR" sz="18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FC7EBB0-177F-0662-08C8-F9A9CA66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136" y="1562693"/>
            <a:ext cx="6533318" cy="5143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Légende : flèche courbée encadrée à une bordure 34">
            <a:extLst>
              <a:ext uri="{FF2B5EF4-FFF2-40B4-BE49-F238E27FC236}">
                <a16:creationId xmlns:a16="http://schemas.microsoft.com/office/drawing/2014/main" id="{68531293-0236-F3C0-876A-AD5B1191F775}"/>
              </a:ext>
            </a:extLst>
          </p:cNvPr>
          <p:cNvSpPr/>
          <p:nvPr/>
        </p:nvSpPr>
        <p:spPr>
          <a:xfrm>
            <a:off x="142546" y="159206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50844"/>
              <a:gd name="adj4" fmla="val 138016"/>
              <a:gd name="adj5" fmla="val 103860"/>
              <a:gd name="adj6" fmla="val 166493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Norvège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100%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76.12%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7.37%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95.05%</a:t>
            </a:r>
            <a:endParaRPr lang="fr-FR" dirty="0">
              <a:latin typeface="+mj-lt"/>
            </a:endParaRPr>
          </a:p>
        </p:txBody>
      </p:sp>
      <p:sp>
        <p:nvSpPr>
          <p:cNvPr id="37" name="Légende : flèche courbée encadrée à une bordure 36">
            <a:extLst>
              <a:ext uri="{FF2B5EF4-FFF2-40B4-BE49-F238E27FC236}">
                <a16:creationId xmlns:a16="http://schemas.microsoft.com/office/drawing/2014/main" id="{2871E114-8506-CF4E-CBD8-00269FB528FF}"/>
              </a:ext>
            </a:extLst>
          </p:cNvPr>
          <p:cNvSpPr/>
          <p:nvPr/>
        </p:nvSpPr>
        <p:spPr>
          <a:xfrm>
            <a:off x="142546" y="331915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49948"/>
              <a:gd name="adj4" fmla="val 166765"/>
              <a:gd name="adj5" fmla="val 49665"/>
              <a:gd name="adj6" fmla="val 166347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Suède :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100%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91.07%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7.17%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91.51%</a:t>
            </a:r>
            <a:endParaRPr lang="fr-FR" dirty="0">
              <a:latin typeface="+mj-lt"/>
            </a:endParaRPr>
          </a:p>
        </p:txBody>
      </p:sp>
      <p:sp>
        <p:nvSpPr>
          <p:cNvPr id="38" name="Légende : flèche courbée encadrée à une bordure 37">
            <a:extLst>
              <a:ext uri="{FF2B5EF4-FFF2-40B4-BE49-F238E27FC236}">
                <a16:creationId xmlns:a16="http://schemas.microsoft.com/office/drawing/2014/main" id="{F1374C96-F8D9-5F38-EF56-C0CC5D27440E}"/>
              </a:ext>
            </a:extLst>
          </p:cNvPr>
          <p:cNvSpPr/>
          <p:nvPr/>
        </p:nvSpPr>
        <p:spPr>
          <a:xfrm>
            <a:off x="142546" y="504624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50844"/>
              <a:gd name="adj4" fmla="val 138016"/>
              <a:gd name="adj5" fmla="val -56036"/>
              <a:gd name="adj6" fmla="val 187653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Finlande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100%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63.39%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7.72%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94.78%</a:t>
            </a:r>
            <a:endParaRPr lang="fr-FR" dirty="0"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4020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4833-E593-554A-66FD-D539889B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65800AD-3DC2-619F-433F-14D493598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46" y="1592062"/>
            <a:ext cx="6544594" cy="5143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541B724E-6145-55A9-BEC8-12F8BF5BE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BF07A6CC-580F-D552-9753-3BD82AEA5709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B3CAF5E-C25D-4BAC-2782-1B55EB01B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2ABBA378-58E8-2220-A524-3BCF91FECC32}"/>
              </a:ext>
            </a:extLst>
          </p:cNvPr>
          <p:cNvSpPr txBox="1"/>
          <p:nvPr/>
        </p:nvSpPr>
        <p:spPr>
          <a:xfrm>
            <a:off x="185573" y="985656"/>
            <a:ext cx="11820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404040"/>
                </a:solidFill>
                <a:latin typeface="+mj-lt"/>
              </a:rPr>
              <a:t>Représentations visuelles bivariées : </a:t>
            </a:r>
            <a:r>
              <a:rPr lang="fr-FR" sz="1800" dirty="0">
                <a:solidFill>
                  <a:srgbClr val="404040"/>
                </a:solidFill>
                <a:latin typeface="+mj-lt"/>
              </a:rPr>
              <a:t>indicateurs clés par pays pour la régio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n Amérique Latine et Caraïbes</a:t>
            </a:r>
            <a:endParaRPr lang="fr-FR" sz="18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sp>
        <p:nvSpPr>
          <p:cNvPr id="35" name="Légende : flèche courbée encadrée à une bordure 34">
            <a:extLst>
              <a:ext uri="{FF2B5EF4-FFF2-40B4-BE49-F238E27FC236}">
                <a16:creationId xmlns:a16="http://schemas.microsoft.com/office/drawing/2014/main" id="{66C6DCE3-453E-8EC8-158F-4F23E3022F25}"/>
              </a:ext>
            </a:extLst>
          </p:cNvPr>
          <p:cNvSpPr/>
          <p:nvPr/>
        </p:nvSpPr>
        <p:spPr>
          <a:xfrm>
            <a:off x="6931653" y="1599508"/>
            <a:ext cx="5180302" cy="1659826"/>
          </a:xfrm>
          <a:prstGeom prst="accentBorderCallout2">
            <a:avLst>
              <a:gd name="adj1" fmla="val 50824"/>
              <a:gd name="adj2" fmla="val -1833"/>
              <a:gd name="adj3" fmla="val 50325"/>
              <a:gd name="adj4" fmla="val -38630"/>
              <a:gd name="adj5" fmla="val 18352"/>
              <a:gd name="adj6" fmla="val -89587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Costa Rica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93.5%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50.01%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6.87%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45.96%</a:t>
            </a:r>
            <a:endParaRPr lang="fr-FR" dirty="0">
              <a:latin typeface="+mj-lt"/>
            </a:endParaRPr>
          </a:p>
        </p:txBody>
      </p:sp>
      <p:sp>
        <p:nvSpPr>
          <p:cNvPr id="37" name="Légende : flèche courbée encadrée à une bordure 36">
            <a:extLst>
              <a:ext uri="{FF2B5EF4-FFF2-40B4-BE49-F238E27FC236}">
                <a16:creationId xmlns:a16="http://schemas.microsoft.com/office/drawing/2014/main" id="{FB3AD892-77CD-64CE-31DD-74B98D747257}"/>
              </a:ext>
            </a:extLst>
          </p:cNvPr>
          <p:cNvSpPr/>
          <p:nvPr/>
        </p:nvSpPr>
        <p:spPr>
          <a:xfrm>
            <a:off x="6931653" y="3326598"/>
            <a:ext cx="5180302" cy="1659826"/>
          </a:xfrm>
          <a:prstGeom prst="accentBorderCallout2">
            <a:avLst>
              <a:gd name="adj1" fmla="val 50274"/>
              <a:gd name="adj2" fmla="val -1833"/>
              <a:gd name="adj3" fmla="val 51041"/>
              <a:gd name="adj4" fmla="val -33466"/>
              <a:gd name="adj5" fmla="val 1361"/>
              <a:gd name="adj6" fmla="val -56805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Brésil :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93.23%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46.45%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5.99%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51.04%</a:t>
            </a:r>
            <a:endParaRPr lang="fr-FR" dirty="0">
              <a:latin typeface="+mj-lt"/>
            </a:endParaRPr>
          </a:p>
        </p:txBody>
      </p:sp>
      <p:sp>
        <p:nvSpPr>
          <p:cNvPr id="38" name="Légende : flèche courbée encadrée à une bordure 37">
            <a:extLst>
              <a:ext uri="{FF2B5EF4-FFF2-40B4-BE49-F238E27FC236}">
                <a16:creationId xmlns:a16="http://schemas.microsoft.com/office/drawing/2014/main" id="{596DEE93-1B5C-0F08-96B8-4683C9202D4D}"/>
              </a:ext>
            </a:extLst>
          </p:cNvPr>
          <p:cNvSpPr/>
          <p:nvPr/>
        </p:nvSpPr>
        <p:spPr>
          <a:xfrm>
            <a:off x="6931653" y="5053688"/>
            <a:ext cx="5180302" cy="1659826"/>
          </a:xfrm>
          <a:prstGeom prst="accentBorderCallout2">
            <a:avLst>
              <a:gd name="adj1" fmla="val 48771"/>
              <a:gd name="adj2" fmla="val -1954"/>
              <a:gd name="adj3" fmla="val 47553"/>
              <a:gd name="adj4" fmla="val -39973"/>
              <a:gd name="adj5" fmla="val -12622"/>
              <a:gd name="adj6" fmla="val -72476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Chili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99.02%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83.82%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4.56%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58.0%</a:t>
            </a:r>
            <a:endParaRPr lang="fr-FR" dirty="0"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628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4773E-B803-C1F8-4AC9-4C1F3CE98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05CF6C2-2792-2FF9-206A-1640F22DA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99" r="9399"/>
          <a:stretch/>
        </p:blipFill>
        <p:spPr>
          <a:xfrm>
            <a:off x="5516137" y="1562692"/>
            <a:ext cx="6533318" cy="5143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E063391A-06CF-D4C6-8AD6-07915CCFF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04DD9309-D302-765A-194B-44A180FD6203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38377FA-DCE2-D75E-A57E-848B79F0E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5655584E-2919-C1F1-A0C8-911D2305E75B}"/>
              </a:ext>
            </a:extLst>
          </p:cNvPr>
          <p:cNvSpPr txBox="1"/>
          <p:nvPr/>
        </p:nvSpPr>
        <p:spPr>
          <a:xfrm>
            <a:off x="1306283" y="1029259"/>
            <a:ext cx="10230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404040"/>
                </a:solidFill>
                <a:latin typeface="+mj-lt"/>
              </a:rPr>
              <a:t>Représentations visuelles bivariées : </a:t>
            </a:r>
            <a:r>
              <a:rPr lang="fr-FR" sz="1800" dirty="0">
                <a:solidFill>
                  <a:srgbClr val="404040"/>
                </a:solidFill>
                <a:latin typeface="+mj-lt"/>
              </a:rPr>
              <a:t>indicateurs clés par pays pour la régio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n Moyen Orient</a:t>
            </a:r>
            <a:endParaRPr lang="fr-FR" sz="1800" i="0" dirty="0">
              <a:solidFill>
                <a:srgbClr val="404040"/>
              </a:solidFill>
              <a:effectLst/>
              <a:latin typeface="+mj-lt"/>
            </a:endParaRPr>
          </a:p>
        </p:txBody>
      </p:sp>
      <p:sp>
        <p:nvSpPr>
          <p:cNvPr id="35" name="Légende : flèche courbée encadrée à une bordure 34">
            <a:extLst>
              <a:ext uri="{FF2B5EF4-FFF2-40B4-BE49-F238E27FC236}">
                <a16:creationId xmlns:a16="http://schemas.microsoft.com/office/drawing/2014/main" id="{A41B2CB2-FB22-E69B-849B-9D1D65A78BF7}"/>
              </a:ext>
            </a:extLst>
          </p:cNvPr>
          <p:cNvSpPr/>
          <p:nvPr/>
        </p:nvSpPr>
        <p:spPr>
          <a:xfrm>
            <a:off x="142546" y="159206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50844"/>
              <a:gd name="adj4" fmla="val 138016"/>
              <a:gd name="adj5" fmla="val 94049"/>
              <a:gd name="adj6" fmla="val 172296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Turquie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99.66%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66.28%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5.83%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70.25%</a:t>
            </a:r>
            <a:endParaRPr lang="fr-FR" dirty="0">
              <a:latin typeface="+mj-lt"/>
            </a:endParaRPr>
          </a:p>
        </p:txBody>
      </p:sp>
      <p:sp>
        <p:nvSpPr>
          <p:cNvPr id="37" name="Légende : flèche courbée encadrée à une bordure 36">
            <a:extLst>
              <a:ext uri="{FF2B5EF4-FFF2-40B4-BE49-F238E27FC236}">
                <a16:creationId xmlns:a16="http://schemas.microsoft.com/office/drawing/2014/main" id="{894991AA-368F-592E-485D-6638CEDC8A4D}"/>
              </a:ext>
            </a:extLst>
          </p:cNvPr>
          <p:cNvSpPr/>
          <p:nvPr/>
        </p:nvSpPr>
        <p:spPr>
          <a:xfrm>
            <a:off x="142546" y="331915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51080"/>
              <a:gd name="adj4" fmla="val 154916"/>
              <a:gd name="adj5" fmla="val 57966"/>
              <a:gd name="adj6" fmla="val 164775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Chypre :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96.77%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47.53%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6.44%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65.45%</a:t>
            </a:r>
            <a:endParaRPr lang="fr-FR" dirty="0">
              <a:latin typeface="+mj-lt"/>
            </a:endParaRPr>
          </a:p>
        </p:txBody>
      </p:sp>
      <p:sp>
        <p:nvSpPr>
          <p:cNvPr id="38" name="Légende : flèche courbée encadrée à une bordure 37">
            <a:extLst>
              <a:ext uri="{FF2B5EF4-FFF2-40B4-BE49-F238E27FC236}">
                <a16:creationId xmlns:a16="http://schemas.microsoft.com/office/drawing/2014/main" id="{835A0649-EF3D-2DD2-B155-22DCF0C16732}"/>
              </a:ext>
            </a:extLst>
          </p:cNvPr>
          <p:cNvSpPr/>
          <p:nvPr/>
        </p:nvSpPr>
        <p:spPr>
          <a:xfrm>
            <a:off x="142546" y="5046242"/>
            <a:ext cx="5180302" cy="1659826"/>
          </a:xfrm>
          <a:prstGeom prst="accentBorderCallout2">
            <a:avLst>
              <a:gd name="adj1" fmla="val 50547"/>
              <a:gd name="adj2" fmla="val 102360"/>
              <a:gd name="adj3" fmla="val 50844"/>
              <a:gd name="adj4" fmla="val 138016"/>
              <a:gd name="adj5" fmla="val 20562"/>
              <a:gd name="adj6" fmla="val 173629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+mj-lt"/>
              </a:rPr>
              <a:t>Israël :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secondaire : </a:t>
            </a:r>
            <a:r>
              <a:rPr lang="fr-FR" b="1" dirty="0">
                <a:latin typeface="+mj-lt"/>
              </a:rPr>
              <a:t>95.42%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Taux d’inscription universitaire : </a:t>
            </a:r>
            <a:r>
              <a:rPr lang="fr-FR" b="1" dirty="0">
                <a:latin typeface="+mj-lt"/>
              </a:rPr>
              <a:t>78.98%</a:t>
            </a:r>
            <a:endParaRPr lang="fr-FR" dirty="0">
              <a:latin typeface="+mj-lt"/>
            </a:endParaRP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Dépenses publiques en éducation : </a:t>
            </a:r>
            <a:r>
              <a:rPr lang="fr-FR" b="1" dirty="0">
                <a:latin typeface="+mj-lt"/>
              </a:rPr>
              <a:t>4.77%</a:t>
            </a:r>
          </a:p>
          <a:p>
            <a:pPr marL="285750" indent="-285750" algn="ctr">
              <a:buFontTx/>
              <a:buChar char="-"/>
            </a:pPr>
            <a:r>
              <a:rPr lang="fr-FR" dirty="0">
                <a:latin typeface="+mj-lt"/>
              </a:rPr>
              <a:t>Utilisateurs d’internet : </a:t>
            </a:r>
            <a:r>
              <a:rPr lang="fr-FR" b="1" dirty="0">
                <a:latin typeface="+mj-lt"/>
              </a:rPr>
              <a:t>46.25%</a:t>
            </a:r>
            <a:endParaRPr lang="fr-FR" dirty="0"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861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09DF2BCD-BA3B-18FF-F1E4-D3131E450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7D1AEBC4-E45E-81D6-9023-BF3BB8291622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C15FADD-8BD3-87AF-3CC1-ED0823001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B1115C64-B3E3-57F6-3797-7C0B21771A37}"/>
              </a:ext>
            </a:extLst>
          </p:cNvPr>
          <p:cNvSpPr txBox="1"/>
          <p:nvPr/>
        </p:nvSpPr>
        <p:spPr>
          <a:xfrm>
            <a:off x="1306284" y="1004207"/>
            <a:ext cx="9895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Statistiques avancées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Analyse du taux d’inscription dans les établissements privés du secondaire par région avec le chi²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F8307B-B6AE-FB74-DF37-0063DD78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0"/>
          <a:stretch/>
        </p:blipFill>
        <p:spPr>
          <a:xfrm>
            <a:off x="87682" y="2246712"/>
            <a:ext cx="6060975" cy="38927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25E3CF-61A7-65E0-AE60-2119904EBF61}"/>
              </a:ext>
            </a:extLst>
          </p:cNvPr>
          <p:cNvSpPr txBox="1"/>
          <p:nvPr/>
        </p:nvSpPr>
        <p:spPr>
          <a:xfrm>
            <a:off x="6148657" y="1650538"/>
            <a:ext cx="570664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Objectif du test : </a:t>
            </a:r>
            <a:r>
              <a:rPr lang="fr-FR" sz="1600" b="0" i="0" dirty="0">
                <a:solidFill>
                  <a:srgbClr val="404040"/>
                </a:solidFill>
                <a:effectLst/>
                <a:latin typeface="+mj-lt"/>
              </a:rPr>
              <a:t>Évaluer l’hypothèse d’indépendance entre la région géographique et le taux d’inscription dans l’enseignement secondaire privé.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Interprétation des couleurs :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Couleurs froides (proche de l’attendu, indépendance faible) vs couleurs chaudes (écart fort, relation significative).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i="0" dirty="0">
              <a:solidFill>
                <a:srgbClr val="404040"/>
              </a:solidFill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i="0" dirty="0">
                <a:solidFill>
                  <a:srgbClr val="404040"/>
                </a:solidFill>
                <a:effectLst/>
                <a:latin typeface="+mj-lt"/>
              </a:rPr>
              <a:t>Résultats clés :</a:t>
            </a:r>
            <a:r>
              <a:rPr lang="fr-FR" sz="1600" i="0" dirty="0">
                <a:solidFill>
                  <a:srgbClr val="404040"/>
                </a:solidFill>
                <a:effectLst/>
                <a:latin typeface="+mj-lt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b="0" u="sng" dirty="0">
                <a:solidFill>
                  <a:srgbClr val="404040"/>
                </a:solidFill>
                <a:latin typeface="+mj-lt"/>
              </a:rPr>
              <a:t>Europe :</a:t>
            </a:r>
            <a:r>
              <a:rPr lang="fr-FR" sz="1600" b="0" dirty="0">
                <a:solidFill>
                  <a:srgbClr val="404040"/>
                </a:solidFill>
                <a:latin typeface="+mj-lt"/>
              </a:rPr>
              <a:t> forte concentration en ‘Faible’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u="sng" dirty="0">
                <a:solidFill>
                  <a:srgbClr val="404040"/>
                </a:solidFill>
                <a:latin typeface="+mj-lt"/>
              </a:rPr>
              <a:t>Amérique Latine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forte concentration en ‘</a:t>
            </a:r>
            <a:r>
              <a:rPr lang="fr-FR" sz="1600" b="0" i="0" dirty="0">
                <a:solidFill>
                  <a:srgbClr val="404040"/>
                </a:solidFill>
                <a:effectLst/>
                <a:latin typeface="+mj-lt"/>
              </a:rPr>
              <a:t>Élevé’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u="sng" dirty="0">
                <a:solidFill>
                  <a:srgbClr val="404040"/>
                </a:solidFill>
                <a:latin typeface="+mj-lt"/>
              </a:rPr>
              <a:t>Moyen-Orient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répartition proche de l’indépendance.</a:t>
            </a:r>
            <a:endParaRPr lang="fr-FR" sz="1600" b="0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i="0" dirty="0">
              <a:solidFill>
                <a:srgbClr val="404040"/>
              </a:solidFill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i="0" dirty="0">
                <a:solidFill>
                  <a:srgbClr val="404040"/>
                </a:solidFill>
                <a:effectLst/>
                <a:latin typeface="+mj-lt"/>
              </a:rPr>
              <a:t>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</a:t>
            </a:r>
            <a:r>
              <a:rPr lang="fr-FR" sz="1600" b="1" dirty="0">
                <a:solidFill>
                  <a:srgbClr val="404040"/>
                </a:solidFill>
                <a:latin typeface="+mj-lt"/>
              </a:rPr>
              <a:t>Implications pour </a:t>
            </a:r>
            <a:r>
              <a:rPr lang="fr-FR" sz="1600" b="1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b="1" dirty="0">
                <a:solidFill>
                  <a:srgbClr val="404040"/>
                </a:solidFill>
                <a:latin typeface="+mj-lt"/>
              </a:rPr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u="sng" dirty="0">
                <a:solidFill>
                  <a:srgbClr val="404040"/>
                </a:solidFill>
                <a:latin typeface="+mj-lt"/>
              </a:rPr>
              <a:t>Europe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Stratégie axée sur le public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u="sng" dirty="0">
                <a:solidFill>
                  <a:srgbClr val="404040"/>
                </a:solidFill>
                <a:latin typeface="+mj-lt"/>
              </a:rPr>
              <a:t>Amérique Latine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Adapter l’offre pour le privé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u="sng" dirty="0">
                <a:solidFill>
                  <a:srgbClr val="404040"/>
                </a:solidFill>
                <a:latin typeface="+mj-lt"/>
              </a:rPr>
              <a:t>Moyen-Orient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Test des deux approches</a:t>
            </a:r>
            <a:endParaRPr lang="fr-FR" sz="1600" u="sng" dirty="0">
              <a:solidFill>
                <a:srgbClr val="40404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560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ED319AF-5E79-3893-85F4-D47BB19F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19DB17B8-E513-8AF1-3659-D6C6B9C79BF3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8AC0BD8-3882-9E19-5EFE-2C8ED2DD3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0343D1F5-7E6D-B422-1BB7-C36C1A5A089E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404040"/>
                </a:solidFill>
                <a:latin typeface="+mj-lt"/>
              </a:rPr>
              <a:t>Analyse temporelle et prévisions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</a:t>
            </a:r>
            <a:r>
              <a:rPr lang="fr-FR" sz="1800" b="0" i="0" dirty="0">
                <a:solidFill>
                  <a:srgbClr val="404040"/>
                </a:solidFill>
                <a:effectLst/>
                <a:latin typeface="+mj-lt"/>
              </a:rPr>
              <a:t>Évolution des dépenses publiques en éducation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624D7FE-50BE-E77B-FB06-7C32E895E466}"/>
              </a:ext>
            </a:extLst>
          </p:cNvPr>
          <p:cNvSpPr txBox="1"/>
          <p:nvPr/>
        </p:nvSpPr>
        <p:spPr>
          <a:xfrm>
            <a:off x="1200150" y="2714725"/>
            <a:ext cx="4405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Importance de l’indicateur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Les dépenses publiques en éducation (% du PIB) reflètent l’engagement des gouvernements et le potentiel d’intégration des solutions 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EdTech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.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FD33DFF-BCF2-FC5C-1977-9A1E572F53F6}"/>
              </a:ext>
            </a:extLst>
          </p:cNvPr>
          <p:cNvSpPr txBox="1"/>
          <p:nvPr/>
        </p:nvSpPr>
        <p:spPr>
          <a:xfrm>
            <a:off x="6585859" y="2714725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Analyse des tendances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Identifier les pays où les investissements éducatifs sont en croissance ou stagnent pour repérer les opportunités.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9E0578E-EA56-D6B6-B84E-AC58E1E9FEED}"/>
              </a:ext>
            </a:extLst>
          </p:cNvPr>
          <p:cNvSpPr txBox="1"/>
          <p:nvPr/>
        </p:nvSpPr>
        <p:spPr>
          <a:xfrm>
            <a:off x="1200149" y="5071732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Méthodologie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Utilisation de la régression pour comparer l’évolution des dépenses dans chaque pays et estimer les trajectoires futures.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884EDAD-7F66-B6B9-9577-D862AAC960CF}"/>
              </a:ext>
            </a:extLst>
          </p:cNvPr>
          <p:cNvSpPr txBox="1"/>
          <p:nvPr/>
        </p:nvSpPr>
        <p:spPr>
          <a:xfrm>
            <a:off x="6585858" y="5071731"/>
            <a:ext cx="4405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solidFill>
                  <a:srgbClr val="404040"/>
                </a:solidFill>
                <a:latin typeface="+mj-lt"/>
              </a:rPr>
              <a:t>Impact stratégique</a:t>
            </a:r>
          </a:p>
          <a:p>
            <a:pPr algn="ctr"/>
            <a:r>
              <a:rPr lang="fr-FR" sz="1600" dirty="0">
                <a:solidFill>
                  <a:srgbClr val="404040"/>
                </a:solidFill>
                <a:latin typeface="+mj-lt"/>
              </a:rPr>
              <a:t>Prioriser les marchés avec une dynamique d’investissement favorable pour optimiser les choix d’expansion.</a:t>
            </a:r>
          </a:p>
        </p:txBody>
      </p:sp>
      <p:pic>
        <p:nvPicPr>
          <p:cNvPr id="25" name="Graphique 24" descr="Mille avec un remplissage uni">
            <a:extLst>
              <a:ext uri="{FF2B5EF4-FFF2-40B4-BE49-F238E27FC236}">
                <a16:creationId xmlns:a16="http://schemas.microsoft.com/office/drawing/2014/main" id="{04944949-B47F-58CE-C84A-75283E873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054" y="4296134"/>
            <a:ext cx="775597" cy="775597"/>
          </a:xfrm>
          <a:prstGeom prst="rect">
            <a:avLst/>
          </a:prstGeom>
        </p:spPr>
      </p:pic>
      <p:pic>
        <p:nvPicPr>
          <p:cNvPr id="26" name="Graphique 25" descr="Loupe avec un remplissage uni">
            <a:extLst>
              <a:ext uri="{FF2B5EF4-FFF2-40B4-BE49-F238E27FC236}">
                <a16:creationId xmlns:a16="http://schemas.microsoft.com/office/drawing/2014/main" id="{83FCCC3A-C5DA-3CCE-5212-1A7E8821F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055" y="1934729"/>
            <a:ext cx="775597" cy="775597"/>
          </a:xfrm>
          <a:prstGeom prst="rect">
            <a:avLst/>
          </a:prstGeom>
        </p:spPr>
      </p:pic>
      <p:pic>
        <p:nvPicPr>
          <p:cNvPr id="27" name="Graphique 26" descr="Document avec un remplissage uni">
            <a:extLst>
              <a:ext uri="{FF2B5EF4-FFF2-40B4-BE49-F238E27FC236}">
                <a16:creationId xmlns:a16="http://schemas.microsoft.com/office/drawing/2014/main" id="{D2B3D5B9-CE3E-12DA-1A52-17A0B0B59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5345" y="4296134"/>
            <a:ext cx="775597" cy="775597"/>
          </a:xfrm>
          <a:prstGeom prst="rect">
            <a:avLst/>
          </a:prstGeom>
        </p:spPr>
      </p:pic>
      <p:pic>
        <p:nvPicPr>
          <p:cNvPr id="28" name="Graphique 27" descr="Tendance à la hausse avec un remplissage uni">
            <a:extLst>
              <a:ext uri="{FF2B5EF4-FFF2-40B4-BE49-F238E27FC236}">
                <a16:creationId xmlns:a16="http://schemas.microsoft.com/office/drawing/2014/main" id="{3BBAE7A5-8494-79F2-45D4-250487D29C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15346" y="2000780"/>
            <a:ext cx="775597" cy="77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9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5F4BED71-3F5A-6B2E-4D4E-2B27C7497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FE028344-9D48-AC68-B647-014746138004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4ABAAD4-D2AF-92BB-047D-0C74BDFBB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F8228C19-4E1D-7683-B814-8002E5AD4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211" y="1404967"/>
            <a:ext cx="7159789" cy="472652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09C7650-23A7-BE85-0B34-496DDE9721F8}"/>
              </a:ext>
            </a:extLst>
          </p:cNvPr>
          <p:cNvSpPr txBox="1"/>
          <p:nvPr/>
        </p:nvSpPr>
        <p:spPr>
          <a:xfrm>
            <a:off x="228600" y="1381058"/>
            <a:ext cx="461897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Tendance croissante des investissements :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La Finlande présente une augmentation continue des dépenses publiques en éducation 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0.09x – 171.02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Comparaison avec la Norvège et la Suède :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La Norvège 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0.00x + 4.21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 et la Suède 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0.04x – 74.45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 montrent des évolutions plus modérées.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Engagement gouvernemental fort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Investissement maximal prévu en 2019, confirmant la priorité accordée à l’éducation.</a:t>
            </a:r>
          </a:p>
          <a:p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Opportunité stratégique pour </a:t>
            </a:r>
            <a:r>
              <a:rPr lang="fr-FR" sz="1600" b="1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b="1" dirty="0">
                <a:solidFill>
                  <a:srgbClr val="404040"/>
                </a:solidFill>
                <a:latin typeface="+mj-lt"/>
              </a:rPr>
              <a:t> :</a:t>
            </a:r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Un marché stable et innovant, propice au développement de solutions éducatives avancées.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22C7C5F-34A7-863A-43B8-4C78F78AA496}"/>
              </a:ext>
            </a:extLst>
          </p:cNvPr>
          <p:cNvSpPr txBox="1"/>
          <p:nvPr/>
        </p:nvSpPr>
        <p:spPr>
          <a:xfrm>
            <a:off x="228600" y="852009"/>
            <a:ext cx="117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404040"/>
                </a:solidFill>
                <a:latin typeface="+mj-lt"/>
              </a:rPr>
              <a:t>Analyse temporelle et prévisions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</a:t>
            </a:r>
            <a:r>
              <a:rPr lang="fr-FR" sz="1800" b="0" i="0" dirty="0">
                <a:solidFill>
                  <a:srgbClr val="404040"/>
                </a:solidFill>
                <a:effectLst/>
                <a:latin typeface="+mj-lt"/>
              </a:rPr>
              <a:t>Évolution des dépenses publiques en éducation en Europe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0604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610A-97A6-4E4F-17CB-53BDBB8E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2CD0738-A297-0E1A-D236-EFB815595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8" y="1398491"/>
            <a:ext cx="7178059" cy="4753104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369BF635-A089-0371-B54B-2D30C6E8C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D72CFFC5-2D77-2BC1-B937-4D73104C60EC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CCA0D520-9486-B223-F8B1-1DB06D1E4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4ED1F187-B4FC-9A38-C6D9-0201342C18F7}"/>
              </a:ext>
            </a:extLst>
          </p:cNvPr>
          <p:cNvSpPr txBox="1"/>
          <p:nvPr/>
        </p:nvSpPr>
        <p:spPr>
          <a:xfrm>
            <a:off x="7246307" y="1398491"/>
            <a:ext cx="482878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Croissance des investissements :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Le Brésil présente la pente de régression la plus élevée 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0.18x  - 356.42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), indiquant une dynamique forte et durable.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Portée démographique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Avec une population massive, le Brésil offre un marché éducatif vaste et prometteur pour 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.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Comparaison avec le Chili et le Costa Rica :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Le Chili 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0.08x – 138.53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 a une croissance plus faible, et le Costa Rica (</a:t>
            </a:r>
            <a:r>
              <a:rPr lang="fr-FR" sz="1600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0.15x + 296.45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 présente un potentiel limité par sa taille démographique.</a:t>
            </a:r>
          </a:p>
          <a:p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Opportunité stratégique :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Le Brésil combine une dynamique économique favorable et une demande éducative importante, en faisant un marché clé pour 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501CB89-2975-8638-CC4D-8E585EC0DF81}"/>
              </a:ext>
            </a:extLst>
          </p:cNvPr>
          <p:cNvSpPr txBox="1"/>
          <p:nvPr/>
        </p:nvSpPr>
        <p:spPr>
          <a:xfrm>
            <a:off x="228600" y="852009"/>
            <a:ext cx="117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404040"/>
                </a:solidFill>
                <a:latin typeface="+mj-lt"/>
              </a:rPr>
              <a:t>Analyse temporelle et prévisions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</a:t>
            </a:r>
            <a:r>
              <a:rPr lang="fr-FR" sz="1800" b="0" i="0" dirty="0">
                <a:solidFill>
                  <a:srgbClr val="404040"/>
                </a:solidFill>
                <a:effectLst/>
                <a:latin typeface="+mj-lt"/>
              </a:rPr>
              <a:t>Évolution des dépenses publiques en éducation en Amérique Latine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564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E02E-80EA-1AAF-8E72-620E5B46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ED7AAED-3CE4-91A7-B662-27FB0C5A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58" y="1404967"/>
            <a:ext cx="7169442" cy="4726521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6CDBC18F-1B6E-2319-A4B4-EE0C20DDF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72A18900-7522-25DC-5AA1-4FA86E39AF41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Analyse des données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5D902A-9C21-B4CA-F98D-B3024477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B1C7DE4-22CD-5327-6BD4-4730185476CD}"/>
              </a:ext>
            </a:extLst>
          </p:cNvPr>
          <p:cNvSpPr txBox="1"/>
          <p:nvPr/>
        </p:nvSpPr>
        <p:spPr>
          <a:xfrm>
            <a:off x="228600" y="1381058"/>
            <a:ext cx="47939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Croissance rapide des investissements :</a:t>
            </a: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La Turquie présente la pente de régression la plus élevée (</a:t>
            </a:r>
            <a:r>
              <a:rPr lang="fr-FR" sz="1600" i="1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0.13x – 259.30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), indiquant une forte dynamique d’investissement.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Portée démographique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Avec une population bien plus grande que Chypre et Israël, la Turquie offre un marché vaste et stratégique.</a:t>
            </a:r>
          </a:p>
          <a:p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Comparaison avec Chypre et Israël :</a:t>
            </a:r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Chypre (</a:t>
            </a:r>
            <a:r>
              <a:rPr lang="fr-FR" sz="1600" i="1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0.11x – 219.73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 a un fort investissement mais une population limitée. Israël montre une tendance négative des dépenses éducatives (</a:t>
            </a:r>
            <a:r>
              <a:rPr lang="fr-FR" sz="1600" i="1" dirty="0">
                <a:solidFill>
                  <a:srgbClr val="404040"/>
                </a:solidFill>
                <a:highlight>
                  <a:srgbClr val="C0C0C0"/>
                </a:highlight>
                <a:latin typeface="+mj-lt"/>
              </a:rPr>
              <a:t>y = - 0.06x + 116.71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).</a:t>
            </a:r>
          </a:p>
          <a:p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r>
              <a:rPr lang="fr-FR" sz="1600" b="1" dirty="0">
                <a:solidFill>
                  <a:srgbClr val="404040"/>
                </a:solidFill>
                <a:latin typeface="+mj-lt"/>
              </a:rPr>
              <a:t>Opportunité stratégique pour </a:t>
            </a:r>
            <a:r>
              <a:rPr lang="fr-FR" sz="1600" b="1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b="1" dirty="0">
                <a:solidFill>
                  <a:srgbClr val="404040"/>
                </a:solidFill>
                <a:latin typeface="+mj-lt"/>
              </a:rPr>
              <a:t> :</a:t>
            </a:r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r>
              <a:rPr lang="fr-FR" sz="1600" dirty="0">
                <a:solidFill>
                  <a:srgbClr val="404040"/>
                </a:solidFill>
                <a:latin typeface="+mj-lt"/>
              </a:rPr>
              <a:t>L’engagement gouvernemental en forte progression fait de la Turquie un marché clé pour 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4E79A3-9486-D039-AC2A-245EA5BF9908}"/>
              </a:ext>
            </a:extLst>
          </p:cNvPr>
          <p:cNvSpPr txBox="1"/>
          <p:nvPr/>
        </p:nvSpPr>
        <p:spPr>
          <a:xfrm>
            <a:off x="228600" y="852009"/>
            <a:ext cx="117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404040"/>
                </a:solidFill>
                <a:latin typeface="+mj-lt"/>
              </a:rPr>
              <a:t>Analyse temporelle et prévisions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 </a:t>
            </a:r>
            <a:r>
              <a:rPr lang="fr-FR" sz="1800" b="0" i="0" dirty="0">
                <a:solidFill>
                  <a:srgbClr val="404040"/>
                </a:solidFill>
                <a:effectLst/>
                <a:latin typeface="+mj-lt"/>
              </a:rPr>
              <a:t>Évolution des dépenses publiques en éducation au Moyen-Orient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5842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368934C-4521-B600-4BFD-A559F6BBE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C3FAF67E-4A51-9B5E-3760-F847A20C0A24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5C44784-0734-E03B-DDD7-E78B1FF9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1A0B7BB3-5EB4-3A1E-A1DE-619B4D44F4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822322"/>
              </p:ext>
            </p:extLst>
          </p:nvPr>
        </p:nvGraphicFramePr>
        <p:xfrm>
          <a:off x="-1708150" y="1562146"/>
          <a:ext cx="15820390" cy="506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36CAB7F8-E310-D04D-7487-0E9887EC0AD7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404040"/>
                </a:solidFill>
                <a:latin typeface="+mj-lt"/>
              </a:rPr>
              <a:t>Les pays prioritaires pour </a:t>
            </a:r>
            <a:r>
              <a:rPr lang="fr-FR" b="1" dirty="0" err="1">
                <a:solidFill>
                  <a:srgbClr val="404040"/>
                </a:solidFill>
                <a:latin typeface="+mj-lt"/>
              </a:rPr>
              <a:t>Academy</a:t>
            </a:r>
            <a:r>
              <a:rPr lang="fr-FR" b="1" dirty="0">
                <a:solidFill>
                  <a:srgbClr val="404040"/>
                </a:solidFill>
                <a:latin typeface="+mj-lt"/>
              </a:rPr>
              <a:t>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Pourquoi la Finlande, le Brésil et la Turquie ?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7651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2323A66-83B4-58F8-534E-B668FA2FB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re 1">
            <a:extLst>
              <a:ext uri="{FF2B5EF4-FFF2-40B4-BE49-F238E27FC236}">
                <a16:creationId xmlns:a16="http://schemas.microsoft.com/office/drawing/2014/main" id="{5A4B2339-0C69-74C5-D3E3-6C384C3B7ABF}"/>
              </a:ext>
            </a:extLst>
          </p:cNvPr>
          <p:cNvSpPr txBox="1">
            <a:spLocks/>
          </p:cNvSpPr>
          <p:nvPr/>
        </p:nvSpPr>
        <p:spPr>
          <a:xfrm>
            <a:off x="228600" y="336041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2C66834A-4B24-975E-9558-072CEE22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D16E9B0-3E17-DC1A-1093-78508492E7C4}"/>
              </a:ext>
            </a:extLst>
          </p:cNvPr>
          <p:cNvSpPr txBox="1"/>
          <p:nvPr/>
        </p:nvSpPr>
        <p:spPr>
          <a:xfrm>
            <a:off x="1306284" y="1004207"/>
            <a:ext cx="989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404040"/>
                </a:solidFill>
                <a:latin typeface="+mj-lt"/>
              </a:rPr>
              <a:t>Conclusion Générale &amp; Prochaines Étapes : </a:t>
            </a:r>
            <a:r>
              <a:rPr lang="fr-FR" dirty="0">
                <a:solidFill>
                  <a:srgbClr val="404040"/>
                </a:solidFill>
                <a:latin typeface="+mj-lt"/>
              </a:rPr>
              <a:t>Stratégie d’expansion d’</a:t>
            </a:r>
            <a:r>
              <a:rPr lang="fr-FR" dirty="0" err="1">
                <a:solidFill>
                  <a:srgbClr val="404040"/>
                </a:solidFill>
                <a:latin typeface="+mj-lt"/>
              </a:rPr>
              <a:t>Academy</a:t>
            </a:r>
            <a:endParaRPr lang="fr-FR" i="0" dirty="0">
              <a:solidFill>
                <a:srgbClr val="404040"/>
              </a:solidFill>
              <a:effectLst/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35D9B64-954A-98C6-1B74-1E471536B007}"/>
              </a:ext>
            </a:extLst>
          </p:cNvPr>
          <p:cNvSpPr txBox="1"/>
          <p:nvPr/>
        </p:nvSpPr>
        <p:spPr>
          <a:xfrm>
            <a:off x="274530" y="1828962"/>
            <a:ext cx="538723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Sélection stratégique des pays :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Finlande, Brésil et Turquie offrent des opportunités optimales grâce à leur engagement éducatif et leur besoin en solutions </a:t>
            </a:r>
            <a:r>
              <a:rPr lang="fr-FR" sz="1600" dirty="0" err="1">
                <a:solidFill>
                  <a:srgbClr val="404040"/>
                </a:solidFill>
                <a:latin typeface="+mj-lt"/>
              </a:rPr>
              <a:t>EdTech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Diversification régionale :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Europe (Finlande), Amérique Latine (Brésil) et Moyen-Orient (Turquie) assurent une implantation variée et complémentaire.</a:t>
            </a: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Opportunités clés : 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Investissements en hausse, large public cible et adoption croissante des technologies éducatives.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404040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404040"/>
                </a:solidFill>
                <a:latin typeface="+mj-lt"/>
              </a:rPr>
              <a:t>Prochaines étapes :</a:t>
            </a:r>
            <a:r>
              <a:rPr lang="fr-FR" sz="1600" dirty="0">
                <a:solidFill>
                  <a:srgbClr val="404040"/>
                </a:solidFill>
                <a:latin typeface="+mj-lt"/>
              </a:rPr>
              <a:t> Développement de collaborations locales, adaptation des contenus éducatifs et maximisation de l’impact.</a:t>
            </a:r>
          </a:p>
        </p:txBody>
      </p:sp>
      <p:pic>
        <p:nvPicPr>
          <p:cNvPr id="1026" name="Picture 2" descr="284 Globe Photographed Stock Photos - Free &amp; Royalty-Free Stock Photos from  Dreamstime">
            <a:extLst>
              <a:ext uri="{FF2B5EF4-FFF2-40B4-BE49-F238E27FC236}">
                <a16:creationId xmlns:a16="http://schemas.microsoft.com/office/drawing/2014/main" id="{FC16B3E0-4561-2A62-B0B3-819E43CC9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144" y="1869049"/>
            <a:ext cx="5881499" cy="4197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7B468B0-610A-DC13-E02F-21761AFDCF13}"/>
              </a:ext>
            </a:extLst>
          </p:cNvPr>
          <p:cNvSpPr txBox="1"/>
          <p:nvPr/>
        </p:nvSpPr>
        <p:spPr>
          <a:xfrm>
            <a:off x="6526060" y="6223925"/>
            <a:ext cx="51335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chemeClr val="bg2">
                    <a:lumMod val="75000"/>
                  </a:schemeClr>
                </a:solidFill>
              </a:rPr>
              <a:t>Source : </a:t>
            </a:r>
            <a:r>
              <a:rPr lang="fr-FR" sz="800" dirty="0">
                <a:solidFill>
                  <a:schemeClr val="bg2">
                    <a:lumMod val="75000"/>
                  </a:schemeClr>
                </a:solidFill>
                <a:hlinkClick r:id="rId3"/>
              </a:rPr>
              <a:t>www.dreamstime.com</a:t>
            </a:r>
            <a:endParaRPr lang="fr-FR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Losange 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3" name="Losange 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5" name="Titr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fr-FR" sz="7200" b="1" dirty="0">
                <a:solidFill>
                  <a:schemeClr val="bg1"/>
                </a:solidFill>
              </a:rPr>
              <a:t>Merci</a:t>
            </a:r>
            <a:endParaRPr lang="fr-FR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4_TF78455520" id="{1B6B5A3F-3791-4D91-8BCC-053B27B038BF}" vid="{26B24478-322D-4DF5-BC15-C9CB3253BD4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Analyse de projet, tiré de 24Slides</Template>
  <TotalTime>2506</TotalTime>
  <Words>2923</Words>
  <Application>Microsoft Office PowerPoint</Application>
  <PresentationFormat>Grand écran</PresentationFormat>
  <Paragraphs>407</Paragraphs>
  <Slides>32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Century Gothic</vt:lpstr>
      <vt:lpstr>Segoe UI</vt:lpstr>
      <vt:lpstr>Segoe UI Light</vt:lpstr>
      <vt:lpstr>Thème Office</vt:lpstr>
      <vt:lpstr>Analyse exploratoire pour une expansion internationale Présentation</vt:lpstr>
      <vt:lpstr>Analyse du projet : diapositive 2</vt:lpstr>
      <vt:lpstr>Analyse du projet : diapositive 3</vt:lpstr>
      <vt:lpstr>Présentation PowerPoint</vt:lpstr>
      <vt:lpstr>Présentation PowerPoint</vt:lpstr>
      <vt:lpstr>Analyse du projet : diapositive 4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Florent Gervain-Salgé</dc:creator>
  <cp:lastModifiedBy>Florent Gervain-Salgé</cp:lastModifiedBy>
  <cp:revision>7</cp:revision>
  <dcterms:created xsi:type="dcterms:W3CDTF">2025-01-19T13:35:40Z</dcterms:created>
  <dcterms:modified xsi:type="dcterms:W3CDTF">2025-01-30T19:41:52Z</dcterms:modified>
</cp:coreProperties>
</file>